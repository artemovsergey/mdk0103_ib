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678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1828800"/>
            <a:ext cx="10241280" cy="175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 dirty="0">
                <a:solidFill>
                  <a:srgbClr val="9B8EC4"/>
                </a:solidFill>
                <a:latin typeface="Segoe UI"/>
              </a:rPr>
              <a:t>МДК 01.03  </a:t>
            </a:r>
            <a:r>
              <a:rPr lang="ru-RU" sz="1700" dirty="0">
                <a:solidFill>
                  <a:srgbClr val="9B8EC4"/>
                </a:solidFill>
                <a:latin typeface="Segoe UI"/>
              </a:rPr>
              <a:t>Разработка мобильных приложений</a:t>
            </a:r>
            <a:endParaRPr sz="1700" b="0" i="0" dirty="0">
              <a:solidFill>
                <a:srgbClr val="9B8EC4"/>
              </a:solidFill>
              <a:latin typeface="Segoe UI"/>
            </a:endParaRPr>
          </a:p>
          <a:p>
            <a:pPr algn="l">
              <a:spcBef>
                <a:spcPts val="1400"/>
              </a:spcBef>
              <a:spcAft>
                <a:spcPts val="0"/>
              </a:spcAft>
            </a:pPr>
            <a:r>
              <a:rPr sz="5200" b="1" i="0" dirty="0" err="1">
                <a:solidFill>
                  <a:srgbClr val="FFFFFF"/>
                </a:solidFill>
                <a:latin typeface="Segoe UI"/>
              </a:rPr>
              <a:t>Лекция</a:t>
            </a:r>
            <a:r>
              <a:rPr sz="5200" b="1" i="0" dirty="0">
                <a:solidFill>
                  <a:srgbClr val="FFFFFF"/>
                </a:solidFill>
                <a:latin typeface="Segoe UI"/>
              </a:rPr>
              <a:t> 14. </a:t>
            </a:r>
            <a:r>
              <a:rPr sz="5200" b="1" i="0" dirty="0" err="1">
                <a:solidFill>
                  <a:srgbClr val="FFFFFF"/>
                </a:solidFill>
                <a:latin typeface="Segoe UI"/>
              </a:rPr>
              <a:t>Навигация</a:t>
            </a:r>
            <a:endParaRPr sz="5200" b="1" i="0" dirty="0">
              <a:solidFill>
                <a:srgbClr val="FFFFFF"/>
              </a:solidFill>
              <a:latin typeface="Segoe UI"/>
            </a:endParaRP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2700" b="0" i="0" dirty="0">
                <a:solidFill>
                  <a:srgbClr val="C9BEE8"/>
                </a:solidFill>
                <a:latin typeface="Segoe UI"/>
              </a:rPr>
              <a:t>React Native · React Navigation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224528"/>
            <a:ext cx="1828800" cy="54864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4526280"/>
            <a:ext cx="10241280" cy="2923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 dirty="0" err="1">
                <a:solidFill>
                  <a:srgbClr val="A8A8A8"/>
                </a:solidFill>
                <a:latin typeface="Segoe UI"/>
              </a:rPr>
              <a:t>Приложение</a:t>
            </a:r>
            <a:r>
              <a:rPr sz="1900" b="0" i="0" dirty="0">
                <a:solidFill>
                  <a:srgbClr val="A8A8A8"/>
                </a:solidFill>
                <a:latin typeface="Segoe UI"/>
              </a:rPr>
              <a:t> Cupcake: 4 </a:t>
            </a:r>
            <a:r>
              <a:rPr sz="1900" b="0" i="0" dirty="0" err="1">
                <a:solidFill>
                  <a:srgbClr val="A8A8A8"/>
                </a:solidFill>
                <a:latin typeface="Segoe UI"/>
              </a:rPr>
              <a:t>экрана</a:t>
            </a:r>
            <a:r>
              <a:rPr sz="1900" b="0" i="0" dirty="0">
                <a:solidFill>
                  <a:srgbClr val="A8A8A8"/>
                </a:solidFill>
                <a:latin typeface="Segoe UI"/>
              </a:rPr>
              <a:t>, </a:t>
            </a:r>
            <a:r>
              <a:rPr sz="1900" b="0" i="0" dirty="0" err="1">
                <a:solidFill>
                  <a:srgbClr val="A8A8A8"/>
                </a:solidFill>
                <a:latin typeface="Segoe UI"/>
              </a:rPr>
              <a:t>параметры</a:t>
            </a:r>
            <a:r>
              <a:rPr sz="1900" b="0" i="0" dirty="0">
                <a:solidFill>
                  <a:srgbClr val="A8A8A8"/>
                </a:solidFill>
                <a:latin typeface="Segoe UI"/>
              </a:rPr>
              <a:t> </a:t>
            </a:r>
            <a:r>
              <a:rPr sz="1900" b="0" i="0" dirty="0" err="1">
                <a:solidFill>
                  <a:srgbClr val="A8A8A8"/>
                </a:solidFill>
                <a:latin typeface="Segoe UI"/>
              </a:rPr>
              <a:t>между</a:t>
            </a:r>
            <a:r>
              <a:rPr sz="1900" b="0" i="0" dirty="0">
                <a:solidFill>
                  <a:srgbClr val="A8A8A8"/>
                </a:solidFill>
                <a:latin typeface="Segoe UI"/>
              </a:rPr>
              <a:t> </a:t>
            </a:r>
            <a:r>
              <a:rPr sz="1900" b="0" i="0" dirty="0" err="1">
                <a:solidFill>
                  <a:srgbClr val="A8A8A8"/>
                </a:solidFill>
                <a:latin typeface="Segoe UI"/>
              </a:rPr>
              <a:t>ними</a:t>
            </a:r>
            <a:r>
              <a:rPr sz="1900" b="0" i="0" dirty="0">
                <a:solidFill>
                  <a:srgbClr val="A8A8A8"/>
                </a:solidFill>
                <a:latin typeface="Segoe UI"/>
              </a:rPr>
              <a:t>, </a:t>
            </a:r>
            <a:r>
              <a:rPr sz="1900" b="0" i="0" dirty="0" err="1">
                <a:solidFill>
                  <a:srgbClr val="A8A8A8"/>
                </a:solidFill>
                <a:latin typeface="Segoe UI"/>
              </a:rPr>
              <a:t>возврат</a:t>
            </a:r>
            <a:r>
              <a:rPr sz="1900" b="0" i="0" dirty="0">
                <a:solidFill>
                  <a:srgbClr val="A8A8A8"/>
                </a:solidFill>
                <a:latin typeface="Segoe UI"/>
              </a:rPr>
              <a:t> </a:t>
            </a:r>
            <a:r>
              <a:rPr sz="1900" b="0" i="0" dirty="0" err="1">
                <a:solidFill>
                  <a:srgbClr val="A8A8A8"/>
                </a:solidFill>
                <a:latin typeface="Segoe UI"/>
              </a:rPr>
              <a:t>назад</a:t>
            </a:r>
            <a:endParaRPr sz="1900" b="0" i="0" dirty="0">
              <a:solidFill>
                <a:srgbClr val="A8A8A8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1105783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Segoe UI"/>
              </a:rPr>
              <a:t>Что такое МДК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15568"/>
            <a:ext cx="1371600" cy="50292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1261872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B6B6B"/>
                </a:solidFill>
                <a:latin typeface="Segoe UI"/>
              </a:rPr>
              <a:t>Междисциплинарный курс в СПО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83080"/>
            <a:ext cx="11057839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Segoe UI"/>
              </a:rPr>
              <a:t>МДК — учебная единица, которая не замыкается на одном предмете. Она собирает язык, архитектуру, данные, сеть и качество не в наборе разрозненных тем, а на одном сквозном проекте.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788920"/>
            <a:ext cx="11057839" cy="713232"/>
          </a:xfrm>
          <a:prstGeom prst="rect">
            <a:avLst/>
          </a:prstGeom>
          <a:solidFill>
            <a:srgbClr val="F3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2935224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750A4"/>
                </a:solidFill>
                <a:latin typeface="Segoe UI"/>
              </a:rPr>
              <a:t>Не как обычная дисциплина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90288" y="2935224"/>
            <a:ext cx="66751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Тема не висит в воздухе — каждая единица опирается на предыдущую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3502152"/>
            <a:ext cx="11057839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8" y="3648456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750A4"/>
                </a:solidFill>
                <a:latin typeface="Segoe UI"/>
              </a:rPr>
              <a:t>Сквозной проект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3648456"/>
            <a:ext cx="66751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Приложение собирается целиком, а не по кускам на отдельных парах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4215384"/>
            <a:ext cx="11057839" cy="713232"/>
          </a:xfrm>
          <a:prstGeom prst="rect">
            <a:avLst/>
          </a:prstGeom>
          <a:solidFill>
            <a:srgbClr val="F3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5528" y="4361688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750A4"/>
                </a:solidFill>
                <a:latin typeface="Segoe UI"/>
              </a:rPr>
              <a:t>Связи между МДК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4361688"/>
            <a:ext cx="66751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Язык, тестирование и системное программирование работают на общий результат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897880"/>
            <a:ext cx="11057839" cy="566928"/>
          </a:xfrm>
          <a:prstGeom prst="roundRect">
            <a:avLst/>
          </a:prstGeom>
          <a:solidFill>
            <a:srgbClr val="F3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68096" y="6025896"/>
            <a:ext cx="10655503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750A4"/>
                </a:solidFill>
                <a:latin typeface="Segoe UI"/>
              </a:rPr>
              <a:t>Эта лекция — часть МДК 01.03 «Разработка мобильных приложений», раздел 4 «Навигация».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11535" y="638251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9A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1105783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Segoe UI"/>
              </a:rPr>
              <a:t>Семейство МДК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15568"/>
            <a:ext cx="1371600" cy="50292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1261872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B6B6B"/>
                </a:solidFill>
                <a:latin typeface="Segoe UI"/>
              </a:rPr>
              <a:t>Профессиональный модуль ПМ.01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828800"/>
            <a:ext cx="11057839" cy="786384"/>
          </a:xfrm>
          <a:prstGeom prst="rect">
            <a:avLst/>
          </a:prstGeom>
          <a:solidFill>
            <a:srgbClr val="FA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5528" y="2048256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6750A4"/>
                </a:solidFill>
                <a:latin typeface="Segoe UI"/>
              </a:rPr>
              <a:t>МДК 01.01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87168" y="1938528"/>
            <a:ext cx="51206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Разработка программных модулей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90688" y="2048256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B6B6B"/>
                </a:solidFill>
                <a:latin typeface="Segoe UI"/>
              </a:rPr>
              <a:t>Язык и разбор задачи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615184"/>
            <a:ext cx="11057839" cy="7863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8" y="2834640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6750A4"/>
                </a:solidFill>
                <a:latin typeface="Segoe UI"/>
              </a:rPr>
              <a:t>МДК 01.02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87168" y="2724912"/>
            <a:ext cx="51206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Поддержка и тестирование программных модулей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2834640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B6B6B"/>
                </a:solidFill>
                <a:latin typeface="Segoe UI"/>
              </a:rPr>
              <a:t>Качество, проверка, автоматизация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3401568"/>
            <a:ext cx="11057839" cy="786384"/>
          </a:xfrm>
          <a:prstGeom prst="rect">
            <a:avLst/>
          </a:prstGeom>
          <a:solidFill>
            <a:srgbClr val="F3EFFC"/>
          </a:solidFill>
          <a:ln w="12700">
            <a:solidFill>
              <a:srgbClr val="6750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5528" y="3621024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6750A4"/>
                </a:solidFill>
                <a:latin typeface="Segoe UI"/>
              </a:rPr>
              <a:t>МДК 01.03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87168" y="3511296"/>
            <a:ext cx="51206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Segoe UI"/>
              </a:rPr>
              <a:t>Разработка мобильных приложений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0688" y="3621024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750A4"/>
                </a:solidFill>
                <a:latin typeface="Segoe UI"/>
              </a:rPr>
              <a:t>Интерфейс, навигация, данные — наша лекция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4187952"/>
            <a:ext cx="11057839" cy="7863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5528" y="4407408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6750A4"/>
                </a:solidFill>
                <a:latin typeface="Segoe UI"/>
              </a:rPr>
              <a:t>МДК 01.04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87168" y="4297680"/>
            <a:ext cx="51206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Системное программирование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90688" y="4407408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B6B6B"/>
                </a:solidFill>
                <a:latin typeface="Segoe UI"/>
              </a:rPr>
              <a:t>ООП, асинхронность, платформа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897880"/>
            <a:ext cx="11057839" cy="566928"/>
          </a:xfrm>
          <a:prstGeom prst="roundRect">
            <a:avLst/>
          </a:prstGeom>
          <a:solidFill>
            <a:srgbClr val="F3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68096" y="6025896"/>
            <a:ext cx="10655503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750A4"/>
                </a:solidFill>
                <a:latin typeface="Segoe UI"/>
              </a:rPr>
              <a:t>Номер в названии — это номер МДК внутри профессионального модуля ПМ.01. Курсы идут последовательно и опираются друг на друга.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11535" y="638251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9A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1105783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Segoe UI"/>
              </a:rPr>
              <a:t>Межпредметные связи этой лекции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15568"/>
            <a:ext cx="1371600" cy="50292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1261872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B6B6B"/>
                </a:solidFill>
                <a:latin typeface="Segoe UI"/>
              </a:rPr>
              <a:t>На чём стоит навигация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783080"/>
            <a:ext cx="11057839" cy="658368"/>
          </a:xfrm>
          <a:prstGeom prst="rect">
            <a:avLst/>
          </a:prstGeom>
          <a:solidFill>
            <a:srgbClr val="F3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8096" y="1929384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750A4"/>
                </a:solidFill>
                <a:latin typeface="Segoe UI"/>
              </a:rPr>
              <a:t>Состояние экрана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33088" y="1938528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Segoe UI"/>
              </a:rPr>
              <a:t>МДК 01.03, разд. 3 «Состояние»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36408" y="1938528"/>
            <a:ext cx="37947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Segoe UI"/>
              </a:rPr>
              <a:t>useState держит выбранную начинку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441448"/>
            <a:ext cx="11057839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" y="2587752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750A4"/>
                </a:solidFill>
                <a:latin typeface="Segoe UI"/>
              </a:rPr>
              <a:t>Функции первого класса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33088" y="2596896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Segoe UI"/>
              </a:rPr>
              <a:t>МДК 01.03, разд. 1 «Основы TypeScript»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36408" y="2596896"/>
            <a:ext cx="37947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Segoe UI"/>
              </a:rPr>
              <a:t>onPress={() =&gt; ...} — обработчик как значение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3099816"/>
            <a:ext cx="11057839" cy="658368"/>
          </a:xfrm>
          <a:prstGeom prst="rect">
            <a:avLst/>
          </a:prstGeom>
          <a:solidFill>
            <a:srgbClr val="F3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8096" y="324612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750A4"/>
                </a:solidFill>
                <a:latin typeface="Segoe UI"/>
              </a:rPr>
              <a:t>Стек как структура данных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33088" y="3255264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Segoe UI"/>
              </a:rPr>
              <a:t>МДК 01.04, разд. 3 «Многопоточность и асинхронность»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36408" y="3255264"/>
            <a:ext cx="37947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Segoe UI"/>
              </a:rPr>
              <a:t>Stack.Navigator — буквально стек: последний вошёл, первый вышел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3758184"/>
            <a:ext cx="11057839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8096" y="3904488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750A4"/>
                </a:solidFill>
                <a:latin typeface="Segoe UI"/>
              </a:rPr>
              <a:t>Инкапсуляция и передача данных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33088" y="3913632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Segoe UI"/>
              </a:rPr>
              <a:t>МДК 01.04, разд. 2 «ООП»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36408" y="3913632"/>
            <a:ext cx="37947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Segoe UI"/>
              </a:rPr>
              <a:t>Экран прячет состояние, наружу отдаёт route и navigation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4416552"/>
            <a:ext cx="11057839" cy="658368"/>
          </a:xfrm>
          <a:prstGeom prst="rect">
            <a:avLst/>
          </a:prstGeom>
          <a:solidFill>
            <a:srgbClr val="F3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68096" y="4562856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750A4"/>
                </a:solidFill>
                <a:latin typeface="Segoe UI"/>
              </a:rPr>
              <a:t>Тестируемость сценария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33088" y="4572000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Segoe UI"/>
              </a:rPr>
              <a:t>МДК 01.02, разд. 4 «xUnit», разд. 6 «Selenium»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36408" y="4572000"/>
            <a:ext cx="37947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Segoe UI"/>
              </a:rPr>
              <a:t>Сценарий «выбрал → увидел» проверяется готовым тестом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5897880"/>
            <a:ext cx="11057839" cy="566928"/>
          </a:xfrm>
          <a:prstGeom prst="roundRect">
            <a:avLst/>
          </a:prstGeom>
          <a:solidFill>
            <a:srgbClr val="F3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68096" y="6025896"/>
            <a:ext cx="10655503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750A4"/>
                </a:solidFill>
                <a:latin typeface="Segoe UI"/>
              </a:rPr>
              <a:t>Связь систематическая: каждый шаг лекции опирается на конкретный раздел конкретного МДК — видно, что у межпредметности есть основание, а не декларация.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11535" y="638251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9A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1105783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Segoe UI"/>
              </a:rPr>
              <a:t>Один компонент — один экран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15568"/>
            <a:ext cx="1371600" cy="50292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1261872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B6B6B"/>
                </a:solidFill>
                <a:latin typeface="Segoe UI"/>
              </a:rPr>
              <a:t>Так мы писали до сих пор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828800"/>
            <a:ext cx="5120640" cy="2107692"/>
          </a:xfrm>
          <a:prstGeom prst="round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828800"/>
            <a:ext cx="5120640" cy="310896"/>
          </a:xfrm>
          <a:prstGeom prst="rect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8096" y="1883664"/>
            <a:ext cx="47548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4B4B4"/>
                </a:solidFill>
                <a:latin typeface="Segoe UI"/>
              </a:rPr>
              <a:t>App.tsx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227478"/>
            <a:ext cx="4828032" cy="17967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4D4D4"/>
                </a:solidFill>
                <a:latin typeface="Consolas"/>
              </a:rPr>
              <a:t>export default function App() {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 i="0">
                <a:solidFill>
                  <a:srgbClr val="D4D4D4"/>
                </a:solidFill>
                <a:latin typeface="Consolas"/>
              </a:rPr>
              <a:t>  return (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 i="0">
                <a:solidFill>
                  <a:srgbClr val="D4D4D4"/>
                </a:solidFill>
                <a:latin typeface="Consolas"/>
              </a:rPr>
              <a:t>    &lt;View style={styles.container}&gt;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 i="0">
                <a:solidFill>
                  <a:srgbClr val="D4D4D4"/>
                </a:solidFill>
                <a:latin typeface="Consolas"/>
              </a:rPr>
              <a:t>      &lt;Text&gt;...&lt;/Text&gt;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 i="0">
                <a:solidFill>
                  <a:srgbClr val="D4D4D4"/>
                </a:solidFill>
                <a:latin typeface="Consolas"/>
              </a:rPr>
              <a:t>    &lt;/View&gt;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 i="0">
                <a:solidFill>
                  <a:srgbClr val="D4D4D4"/>
                </a:solidFill>
                <a:latin typeface="Consolas"/>
              </a:rPr>
              <a:t>  );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 i="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521208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521208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Segoe UI"/>
              </a:rPr>
              <a:t>• Так годится для стартового экрана или профиля</a:t>
            </a:r>
          </a:p>
          <a:p>
            <a:pPr algn="l">
              <a:spcBef>
                <a:spcPts val="1100"/>
              </a:spcBef>
              <a:spcAft>
                <a:spcPts val="0"/>
              </a:spcAft>
            </a:pPr>
            <a:r>
              <a:rPr sz="1800" b="0" i="0">
                <a:solidFill>
                  <a:srgbClr val="1A1A1A"/>
                </a:solidFill>
                <a:latin typeface="Segoe UI"/>
              </a:rPr>
              <a:t>• Настоящее приложение почти всегда многоэкранное</a:t>
            </a:r>
          </a:p>
          <a:p>
            <a:pPr lvl="1" algn="l">
              <a:spcBef>
                <a:spcPts val="1100"/>
              </a:spcBef>
              <a:spcAft>
                <a:spcPts val="0"/>
              </a:spcAft>
            </a:pPr>
            <a:r>
              <a:rPr sz="1600" b="0" i="0">
                <a:solidFill>
                  <a:srgbClr val="6B6B6B"/>
                </a:solidFill>
                <a:latin typeface="Segoe UI"/>
              </a:rPr>
              <a:t>Нужен механизм: открыть экран, закрыть, вернуться</a:t>
            </a:r>
          </a:p>
          <a:p>
            <a:pPr lvl="1" algn="l">
              <a:spcBef>
                <a:spcPts val="1100"/>
              </a:spcBef>
              <a:spcAft>
                <a:spcPts val="0"/>
              </a:spcAft>
            </a:pPr>
            <a:r>
              <a:rPr sz="1600" b="0" i="0">
                <a:solidFill>
                  <a:srgbClr val="6B6B6B"/>
                </a:solidFill>
                <a:latin typeface="Segoe UI"/>
              </a:rPr>
              <a:t>Данные выбора должны дойти до последнего экрана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5897880"/>
            <a:ext cx="11057839" cy="566928"/>
          </a:xfrm>
          <a:prstGeom prst="roundRect">
            <a:avLst/>
          </a:prstGeom>
          <a:solidFill>
            <a:srgbClr val="F3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8096" y="6025896"/>
            <a:ext cx="10655503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750A4"/>
                </a:solidFill>
                <a:latin typeface="Segoe UI"/>
              </a:rPr>
              <a:t>Навигация — это и есть механизм перехода между экранами и передачи данных между ними.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1535" y="638251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9A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1105783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Segoe UI"/>
              </a:rPr>
              <a:t>Что мы собираем — Cupcake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15568"/>
            <a:ext cx="1371600" cy="50292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1828800"/>
            <a:ext cx="2487168" cy="1051560"/>
          </a:xfrm>
          <a:prstGeom prst="roundRect">
            <a:avLst/>
          </a:prstGeom>
          <a:solidFill>
            <a:srgbClr val="F3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9808" y="2029968"/>
            <a:ext cx="2121408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6750A4"/>
                </a:solidFill>
                <a:latin typeface="Segoe UI"/>
              </a:rPr>
              <a:t>Start</a:t>
            </a:r>
          </a:p>
          <a:p>
            <a:pPr algn="ctr">
              <a:spcBef>
                <a:spcPts val="300"/>
              </a:spcBef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Segoe UI"/>
              </a:rPr>
              <a:t>Старт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54096" y="2148840"/>
            <a:ext cx="502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6750A4"/>
                </a:solidFill>
                <a:latin typeface="Segoe UI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57016" y="1828800"/>
            <a:ext cx="2487168" cy="1051560"/>
          </a:xfrm>
          <a:prstGeom prst="roundRect">
            <a:avLst/>
          </a:prstGeom>
          <a:solidFill>
            <a:srgbClr val="F3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739896" y="2029968"/>
            <a:ext cx="2121408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6750A4"/>
                </a:solidFill>
                <a:latin typeface="Segoe UI"/>
              </a:rPr>
              <a:t>Flavor</a:t>
            </a:r>
          </a:p>
          <a:p>
            <a:pPr algn="ctr">
              <a:spcBef>
                <a:spcPts val="300"/>
              </a:spcBef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Segoe UI"/>
              </a:rPr>
              <a:t>Начинка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44184" y="2148840"/>
            <a:ext cx="502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6750A4"/>
                </a:solidFill>
                <a:latin typeface="Segoe U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47104" y="1828800"/>
            <a:ext cx="2487168" cy="1051560"/>
          </a:xfrm>
          <a:prstGeom prst="roundRect">
            <a:avLst/>
          </a:prstGeom>
          <a:solidFill>
            <a:srgbClr val="F3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29984" y="2029968"/>
            <a:ext cx="2121408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6750A4"/>
                </a:solidFill>
                <a:latin typeface="Segoe UI"/>
              </a:rPr>
              <a:t>Pickup</a:t>
            </a:r>
          </a:p>
          <a:p>
            <a:pPr algn="ctr">
              <a:spcBef>
                <a:spcPts val="300"/>
              </a:spcBef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Segoe UI"/>
              </a:rPr>
              <a:t>Дата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34272" y="2148840"/>
            <a:ext cx="502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6750A4"/>
                </a:solidFill>
                <a:latin typeface="Segoe U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37192" y="1828800"/>
            <a:ext cx="2487168" cy="1051560"/>
          </a:xfrm>
          <a:prstGeom prst="roundRect">
            <a:avLst/>
          </a:prstGeom>
          <a:solidFill>
            <a:srgbClr val="F3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720072" y="2029968"/>
            <a:ext cx="2121408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6750A4"/>
                </a:solidFill>
                <a:latin typeface="Segoe UI"/>
              </a:rPr>
              <a:t>Summary</a:t>
            </a:r>
          </a:p>
          <a:p>
            <a:pPr algn="ctr">
              <a:spcBef>
                <a:spcPts val="300"/>
              </a:spcBef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Segoe UI"/>
              </a:rPr>
              <a:t>Итог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200400"/>
            <a:ext cx="1105783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B6B6B"/>
                </a:solidFill>
                <a:latin typeface="Segoe UI"/>
              </a:rPr>
              <a:t>Начинка выбирается на втором экране, дата — на третьем, на четвёртом мы видим собранный заказ. Экран «Дата» знает о выборе с предыдущего, «Итог» — обоих. Это и есть задача навигации: не потерять данные.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96492" y="3886200"/>
            <a:ext cx="1228064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01-st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212" y="3931920"/>
            <a:ext cx="1136625" cy="237744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4186580" y="3886200"/>
            <a:ext cx="1228064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02-flav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2300" y="3931920"/>
            <a:ext cx="1136625" cy="237744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7176668" y="3886200"/>
            <a:ext cx="1228064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04-picku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2388" y="3931920"/>
            <a:ext cx="1136625" cy="237744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10166756" y="3886200"/>
            <a:ext cx="1228064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06-summa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12476" y="3931920"/>
            <a:ext cx="1136625" cy="23774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911535" y="638251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9A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1105783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Segoe UI"/>
              </a:rPr>
              <a:t>Пререквизиты и результат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15568"/>
            <a:ext cx="1371600" cy="50292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6750A4"/>
                </a:solidFill>
                <a:latin typeface="Segoe UI"/>
              </a:rPr>
              <a:t>Пререквизиты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148840"/>
            <a:ext cx="548640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• Создание проекта Expo и запуск в эмуляторе или на телефоне через Expo Go</a:t>
            </a:r>
          </a:p>
          <a:p>
            <a:pPr algn="l">
              <a:spcBef>
                <a:spcPts val="140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• Компоненты и состояние useState</a:t>
            </a:r>
          </a:p>
          <a:p>
            <a:pPr algn="l">
              <a:spcBef>
                <a:spcPts val="140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• Понятие props и передача данных внутрь компонента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69164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6750A4"/>
                </a:solidFill>
                <a:latin typeface="Segoe UI"/>
              </a:rPr>
              <a:t>Что вы узнаете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2148840"/>
            <a:ext cx="512064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• Установка и настройка React Navigation</a:t>
            </a:r>
          </a:p>
          <a:p>
            <a:pPr algn="l">
              <a:spcBef>
                <a:spcPts val="110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• Описание экранов: NavigationContainer и Stack.Navigator</a:t>
            </a:r>
          </a:p>
          <a:p>
            <a:pPr algn="l">
              <a:spcBef>
                <a:spcPts val="110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• Переходы: navigate, goBack, popToTop, reset</a:t>
            </a:r>
          </a:p>
          <a:p>
            <a:pPr algn="l">
              <a:spcBef>
                <a:spcPts val="110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• Передача данных через route.params</a:t>
            </a:r>
          </a:p>
          <a:p>
            <a:pPr algn="l">
              <a:spcBef>
                <a:spcPts val="110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• Настройка заголовка и кнопки «Назад»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5897880"/>
            <a:ext cx="11057839" cy="566928"/>
          </a:xfrm>
          <a:prstGeom prst="roundRect">
            <a:avLst/>
          </a:prstGeom>
          <a:solidFill>
            <a:srgbClr val="F3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8096" y="6025896"/>
            <a:ext cx="10655503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750A4"/>
                </a:solidFill>
                <a:latin typeface="Segoe UI"/>
              </a:rPr>
              <a:t>Всё, что мы делаем, пишем на записанном приложении Cupcake — живая демонстрация, 90 минут.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38251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9A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1105783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Segoe UI"/>
              </a:rPr>
              <a:t>Как проходит занятие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15568"/>
            <a:ext cx="1371600" cy="50292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1261872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B6B6B"/>
                </a:solidFill>
                <a:latin typeface="Segoe UI"/>
              </a:rPr>
              <a:t>Живая сборка навигации с нуля — файл App.tsx растёт шаг за шагом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828800"/>
            <a:ext cx="11057839" cy="566928"/>
          </a:xfrm>
          <a:prstGeom prst="rect">
            <a:avLst/>
          </a:prstGeom>
          <a:solidFill>
            <a:srgbClr val="F3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956816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750A4"/>
                </a:solidFill>
                <a:latin typeface="Segoe UI"/>
              </a:rPr>
              <a:t>00:00–00:03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70048" y="1956816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Segoe UI"/>
              </a:rPr>
              <a:t>Место в МДК 01.03, межпредметные связи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59168" y="1956816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B6B6B"/>
                </a:solidFill>
                <a:latin typeface="Segoe UI"/>
              </a:rPr>
              <a:t>Видно, на чём стоит занятие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395728"/>
            <a:ext cx="11057839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2523744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750A4"/>
                </a:solidFill>
                <a:latin typeface="Segoe UI"/>
              </a:rPr>
              <a:t>00:03–00:08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70048" y="2523744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Segoe UI"/>
              </a:rPr>
              <a:t>Вступление, создание проекта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9168" y="2523744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B6B6B"/>
                </a:solidFill>
                <a:latin typeface="Segoe UI"/>
              </a:rPr>
              <a:t>Чистый проект Expo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2962656"/>
            <a:ext cx="11057839" cy="566928"/>
          </a:xfrm>
          <a:prstGeom prst="rect">
            <a:avLst/>
          </a:prstGeom>
          <a:solidFill>
            <a:srgbClr val="F3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8" y="3090672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750A4"/>
                </a:solidFill>
                <a:latin typeface="Segoe UI"/>
              </a:rPr>
              <a:t>00:08–00:18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70048" y="3090672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Segoe UI"/>
              </a:rPr>
              <a:t>Metro, эмулятор или телефон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9168" y="3090672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B6B6B"/>
                </a:solidFill>
                <a:latin typeface="Segoe UI"/>
              </a:rPr>
              <a:t>Приложение запущено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3529584"/>
            <a:ext cx="11057839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8" y="365760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750A4"/>
                </a:solidFill>
                <a:latin typeface="Segoe UI"/>
              </a:rPr>
              <a:t>00:18–00:32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70048" y="365760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Segoe UI"/>
              </a:rPr>
              <a:t>Установка React Navigation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9168" y="365760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B6B6B"/>
                </a:solidFill>
                <a:latin typeface="Segoe UI"/>
              </a:rPr>
              <a:t>4 пакета в package.json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4096512"/>
            <a:ext cx="11057839" cy="566928"/>
          </a:xfrm>
          <a:prstGeom prst="rect">
            <a:avLst/>
          </a:prstGeom>
          <a:solidFill>
            <a:srgbClr val="F3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9808" y="4224528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750A4"/>
                </a:solidFill>
                <a:latin typeface="Segoe UI"/>
              </a:rPr>
              <a:t>00:32–00:50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70048" y="4224528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Segoe UI"/>
              </a:rPr>
              <a:t>Создание 4 экранов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59168" y="4224528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B6B6B"/>
                </a:solidFill>
                <a:latin typeface="Segoe UI"/>
              </a:rPr>
              <a:t>Экраны есть, перехода нет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4663440"/>
            <a:ext cx="11057839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9808" y="4791456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750A4"/>
                </a:solidFill>
                <a:latin typeface="Segoe UI"/>
              </a:rPr>
              <a:t>00:50–01:08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70048" y="4791456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Segoe UI"/>
              </a:rPr>
              <a:t>NavigationContainer, Stack.Navigator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9168" y="4791456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B6B6B"/>
                </a:solidFill>
                <a:latin typeface="Segoe UI"/>
              </a:rPr>
              <a:t>Работает переход Start → Начинка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5230368"/>
            <a:ext cx="11057839" cy="566928"/>
          </a:xfrm>
          <a:prstGeom prst="rect">
            <a:avLst/>
          </a:prstGeom>
          <a:solidFill>
            <a:srgbClr val="F3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49808" y="5358384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750A4"/>
                </a:solidFill>
                <a:latin typeface="Segoe UI"/>
              </a:rPr>
              <a:t>01:08–01:24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70048" y="5358384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Segoe UI"/>
              </a:rPr>
              <a:t>Параметры через route.params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59168" y="5358384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B6B6B"/>
                </a:solidFill>
                <a:latin typeface="Segoe UI"/>
              </a:rPr>
              <a:t>Заказ доходит до итога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5797296"/>
            <a:ext cx="11057839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49808" y="5925312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750A4"/>
                </a:solidFill>
                <a:latin typeface="Segoe UI"/>
              </a:rPr>
              <a:t>01:24–01:30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70048" y="5925312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Segoe UI"/>
              </a:rPr>
              <a:t>goBack, popToTop, итоги, домашка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59168" y="5925312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B6B6B"/>
                </a:solidFill>
                <a:latin typeface="Segoe UI"/>
              </a:rPr>
              <a:t>Понимание возврата назад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11535" y="638251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9A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750A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920240"/>
            <a:ext cx="11057839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D9CFF2"/>
                </a:solidFill>
                <a:latin typeface="Segoe UI"/>
              </a:rPr>
              <a:t>ШАГ 0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Segoe UI"/>
              </a:rPr>
              <a:t>Создаём проект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3401568"/>
            <a:ext cx="173736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657600"/>
            <a:ext cx="1105783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E8E2F7"/>
                </a:solidFill>
                <a:latin typeface="Segoe UI"/>
              </a:rPr>
              <a:t>00:00 — 00:08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43400"/>
            <a:ext cx="105156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DED6F2"/>
                </a:solidFill>
                <a:latin typeface="Segoe UI"/>
              </a:rPr>
              <a:t>•  npx create-expo-app@latest cupcake --template blank-typescript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700" b="0" i="0">
                <a:solidFill>
                  <a:srgbClr val="DED6F2"/>
                </a:solidFill>
                <a:latin typeface="Segoe UI"/>
              </a:rPr>
              <a:t>•  Шаблон blank-typescript даёт минимальный проект на TypeScript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700" b="0" i="0">
                <a:solidFill>
                  <a:srgbClr val="DED6F2"/>
                </a:solidFill>
                <a:latin typeface="Segoe UI"/>
              </a:rPr>
              <a:t>•  Весь код лекции пишем в одном файле App.tsx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38251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9A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1105783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Segoe UI"/>
              </a:rPr>
              <a:t>Шаг 0. Создаём проект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15568"/>
            <a:ext cx="1371600" cy="50292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1261872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B6B6B"/>
                </a:solidFill>
                <a:latin typeface="Segoe UI"/>
              </a:rPr>
              <a:t>Терминал в VS 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828800"/>
            <a:ext cx="5852160" cy="1595276"/>
          </a:xfrm>
          <a:prstGeom prst="round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828800"/>
            <a:ext cx="5852160" cy="310896"/>
          </a:xfrm>
          <a:prstGeom prst="rect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8096" y="1883664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4B4B4"/>
                </a:solidFill>
                <a:latin typeface="Segoe UI"/>
              </a:rPr>
              <a:t>PowerShell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227478"/>
            <a:ext cx="5559552" cy="12843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D4D4D4"/>
                </a:solidFill>
                <a:latin typeface="Consolas"/>
              </a:rPr>
              <a:t>npx create-expo-app@latest cupcake \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500" b="0" i="0">
                <a:solidFill>
                  <a:srgbClr val="D4D4D4"/>
                </a:solidFill>
                <a:latin typeface="Consolas"/>
              </a:rPr>
              <a:t>    --template blank-typescript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50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500" b="0" i="0">
                <a:solidFill>
                  <a:srgbClr val="D4D4D4"/>
                </a:solidFill>
                <a:latin typeface="Consolas"/>
              </a:rPr>
              <a:t>cd cupcake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1828800"/>
            <a:ext cx="466344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A1A1A"/>
                </a:solidFill>
                <a:latin typeface="Segoe UI"/>
              </a:rPr>
              <a:t>• Через минуту-полторы появится папка с App.tsx</a:t>
            </a:r>
          </a:p>
          <a:p>
            <a:pPr algn="l">
              <a:spcBef>
                <a:spcPts val="1100"/>
              </a:spcBef>
              <a:spcAft>
                <a:spcPts val="0"/>
              </a:spcAft>
            </a:pPr>
            <a:r>
              <a:rPr sz="1700" b="0" i="0">
                <a:solidFill>
                  <a:srgbClr val="1A1A1A"/>
                </a:solidFill>
                <a:latin typeface="Segoe UI"/>
              </a:rPr>
              <a:t>• Планируем всю лекцию писать в одном файле</a:t>
            </a:r>
          </a:p>
          <a:p>
            <a:pPr lvl="1" algn="l">
              <a:spcBef>
                <a:spcPts val="1100"/>
              </a:spcBef>
              <a:spcAft>
                <a:spcPts val="0"/>
              </a:spcAft>
            </a:pPr>
            <a:r>
              <a:rPr sz="1500" b="0" i="0">
                <a:solidFill>
                  <a:srgbClr val="6B6B6B"/>
                </a:solidFill>
                <a:latin typeface="Segoe UI"/>
              </a:rPr>
              <a:t>Сначала логика, потом структура проекта</a:t>
            </a:r>
          </a:p>
          <a:p>
            <a:pPr algn="l">
              <a:spcBef>
                <a:spcPts val="1100"/>
              </a:spcBef>
              <a:spcAft>
                <a:spcPts val="0"/>
              </a:spcAft>
            </a:pPr>
            <a:r>
              <a:rPr sz="1700" b="0" i="0">
                <a:solidFill>
                  <a:srgbClr val="1A1A1A"/>
                </a:solidFill>
                <a:latin typeface="Segoe UI"/>
              </a:rPr>
              <a:t>• Когда навигация будет понята — разнесём экраны по файлам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5897880"/>
            <a:ext cx="11057839" cy="566928"/>
          </a:xfrm>
          <a:prstGeom prst="roundRect">
            <a:avLst/>
          </a:prstGeom>
          <a:solidFill>
            <a:srgbClr val="F3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6025896"/>
            <a:ext cx="10655503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750A4"/>
                </a:solidFill>
                <a:latin typeface="Segoe UI"/>
              </a:rPr>
              <a:t>Так на занятии проще: видно, что меняется, и не нужно переключаться между десятком файлов.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11535" y="638251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9A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1105783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Segoe UI"/>
              </a:rPr>
              <a:t>Шаг 0. Точка старта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15568"/>
            <a:ext cx="1371600" cy="50292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1737360"/>
            <a:ext cx="6949440" cy="2967228"/>
          </a:xfrm>
          <a:prstGeom prst="round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1737360"/>
            <a:ext cx="6949440" cy="310896"/>
          </a:xfrm>
          <a:prstGeom prst="rect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8096" y="1792224"/>
            <a:ext cx="65836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4B4B4"/>
                </a:solidFill>
                <a:latin typeface="Segoe UI"/>
              </a:rPr>
              <a:t>App.tsx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136038"/>
            <a:ext cx="6656832" cy="2656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4D4D4"/>
                </a:solidFill>
                <a:latin typeface="Consolas"/>
              </a:rPr>
              <a:t>import { StatusBar } from 'expo-status-bar';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 i="0">
                <a:solidFill>
                  <a:srgbClr val="D4D4D4"/>
                </a:solidFill>
                <a:latin typeface="Consolas"/>
              </a:rPr>
              <a:t>import { StyleSheet, Text, View } from 'react-native';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 i="0">
                <a:solidFill>
                  <a:srgbClr val="D4D4D4"/>
                </a:solidFill>
                <a:latin typeface="Consolas"/>
              </a:rPr>
              <a:t>export default function App() {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 i="0">
                <a:solidFill>
                  <a:srgbClr val="D4D4D4"/>
                </a:solidFill>
                <a:latin typeface="Consolas"/>
              </a:rPr>
              <a:t>  return (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 i="0">
                <a:solidFill>
                  <a:srgbClr val="D4D4D4"/>
                </a:solidFill>
                <a:latin typeface="Consolas"/>
              </a:rPr>
              <a:t>    &lt;View style={styles.container}&gt;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 i="0">
                <a:solidFill>
                  <a:srgbClr val="D4D4D4"/>
                </a:solidFill>
                <a:latin typeface="Consolas"/>
              </a:rPr>
              <a:t>      &lt;Text&gt;Open up App.tsx to start working on your app!&lt;/Text&gt;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 i="0">
                <a:solidFill>
                  <a:srgbClr val="D4D4D4"/>
                </a:solidFill>
                <a:latin typeface="Consolas"/>
              </a:rPr>
              <a:t>      &lt;StatusBar style="auto" /&gt;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 i="0">
                <a:solidFill>
                  <a:srgbClr val="D4D4D4"/>
                </a:solidFill>
                <a:latin typeface="Consolas"/>
              </a:rPr>
              <a:t>    &lt;/View&gt;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 i="0">
                <a:solidFill>
                  <a:srgbClr val="D4D4D4"/>
                </a:solidFill>
                <a:latin typeface="Consolas"/>
              </a:rPr>
              <a:t>  );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 i="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737360"/>
            <a:ext cx="3749039" cy="2377440"/>
          </a:xfrm>
          <a:prstGeom prst="roundRect">
            <a:avLst/>
          </a:prstGeom>
          <a:solidFill>
            <a:srgbClr val="F3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92440" y="1965960"/>
            <a:ext cx="329184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6750A4"/>
                </a:solidFill>
                <a:latin typeface="Segoe UI"/>
              </a:rPr>
              <a:t>Заготовка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Segoe UI"/>
              </a:rPr>
              <a:t>Этот экран мы увидим на устройстве сразу после запуска. Если он есть — окружение работает.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38251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9A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750A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920240"/>
            <a:ext cx="11057839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D9CFF2"/>
                </a:solidFill>
                <a:latin typeface="Segoe UI"/>
              </a:rPr>
              <a:t>ШАГ 1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Segoe UI"/>
              </a:rPr>
              <a:t>Запускаем Metro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3401568"/>
            <a:ext cx="173736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657600"/>
            <a:ext cx="1105783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E8E2F7"/>
                </a:solidFill>
                <a:latin typeface="Segoe UI"/>
              </a:rPr>
              <a:t>00:08 — 00:18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43400"/>
            <a:ext cx="105156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DED6F2"/>
                </a:solidFill>
                <a:latin typeface="Segoe UI"/>
              </a:rPr>
              <a:t>•  npx expo start — в терминале появляется QR-код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700" b="0" i="0">
                <a:solidFill>
                  <a:srgbClr val="DED6F2"/>
                </a:solidFill>
                <a:latin typeface="Segoe UI"/>
              </a:rPr>
              <a:t>•  Способ 1: эмулятор Android — клавиша a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700" b="0" i="0">
                <a:solidFill>
                  <a:srgbClr val="DED6F2"/>
                </a:solidFill>
                <a:latin typeface="Segoe UI"/>
              </a:rPr>
              <a:t>•  Способ 2: настоящий телефон — QR-код и общий Wi-Fi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38251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9A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1105783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Segoe UI"/>
              </a:rPr>
              <a:t>Шаг 1. Запускаем Metro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15568"/>
            <a:ext cx="1371600" cy="50292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1691640"/>
            <a:ext cx="5669280" cy="867976"/>
          </a:xfrm>
          <a:prstGeom prst="round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1691640"/>
            <a:ext cx="5669280" cy="310896"/>
          </a:xfrm>
          <a:prstGeom prst="rect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8096" y="1746504"/>
            <a:ext cx="53035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4B4B4"/>
                </a:solidFill>
                <a:latin typeface="Segoe UI"/>
              </a:rPr>
              <a:t>PowerShell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090318"/>
            <a:ext cx="5376672" cy="557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D4D4D4"/>
                </a:solidFill>
                <a:latin typeface="Consolas"/>
              </a:rPr>
              <a:t>npx expo start</a:t>
            </a:r>
          </a:p>
        </p:txBody>
      </p:sp>
      <p:pic>
        <p:nvPicPr>
          <p:cNvPr id="8" name="Picture 7" descr="term-02-met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743200"/>
            <a:ext cx="8595360" cy="240378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5256715"/>
            <a:ext cx="85953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6B6B"/>
                </a:solidFill>
                <a:latin typeface="Segoe UI"/>
              </a:rPr>
              <a:t>QR-код и адрес проекта exp://192.168.31.105:8081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0" y="2743200"/>
            <a:ext cx="210312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750A4"/>
                </a:solidFill>
                <a:latin typeface="Segoe UI"/>
              </a:rPr>
              <a:t>Для эмулятора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300" b="0" i="0">
                <a:solidFill>
                  <a:srgbClr val="6B6B6B"/>
                </a:solidFill>
                <a:latin typeface="Segoe UI"/>
              </a:rPr>
              <a:t>exp://10.0.2.2:8081</a:t>
            </a:r>
          </a:p>
          <a:p>
            <a:pPr algn="l">
              <a:spcBef>
                <a:spcPts val="1200"/>
              </a:spcBef>
              <a:spcAft>
                <a:spcPts val="0"/>
              </a:spcAft>
            </a:pPr>
            <a:r>
              <a:rPr sz="1500" b="1" i="0">
                <a:solidFill>
                  <a:srgbClr val="6750A4"/>
                </a:solidFill>
                <a:latin typeface="Segoe UI"/>
              </a:rPr>
              <a:t>Для телефона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300" b="0" i="0">
                <a:solidFill>
                  <a:srgbClr val="6B6B6B"/>
                </a:solidFill>
                <a:latin typeface="Segoe UI"/>
              </a:rPr>
              <a:t>exp://&lt;адрес
компьютера&gt;:8081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11535" y="638251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9A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1105783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Segoe UI"/>
              </a:rPr>
              <a:t>Шаг 1. Два способа показать приложение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15568"/>
            <a:ext cx="1371600" cy="50292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1261872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B6B6B"/>
                </a:solidFill>
                <a:latin typeface="Segoe UI"/>
              </a:rPr>
              <a:t>Код при этом одинаковый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91640"/>
            <a:ext cx="5257800" cy="45720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1874519"/>
            <a:ext cx="5257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A1A1A"/>
                </a:solidFill>
                <a:latin typeface="Segoe UI"/>
              </a:rPr>
              <a:t>Эмулятор Android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Segoe UI"/>
              </a:rPr>
              <a:t>для показа на лекции</a:t>
            </a:r>
          </a:p>
        </p:txBody>
      </p:sp>
      <p:sp>
        <p:nvSpPr>
          <p:cNvPr id="7" name="Rectangle 6"/>
          <p:cNvSpPr/>
          <p:nvPr/>
        </p:nvSpPr>
        <p:spPr>
          <a:xfrm>
            <a:off x="6446520" y="1691640"/>
            <a:ext cx="5257800" cy="4572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874519"/>
            <a:ext cx="5257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A1A1A"/>
                </a:solidFill>
                <a:latin typeface="Segoe UI"/>
              </a:rPr>
              <a:t>Настоящий телефон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Segoe UI"/>
              </a:rPr>
              <a:t>для практики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788920"/>
            <a:ext cx="525780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• Android Studio или Android SDK</a:t>
            </a:r>
          </a:p>
          <a:p>
            <a:pPr algn="l">
              <a:spcBef>
                <a:spcPts val="120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• Созданный виртуальный телефон (AVD)</a:t>
            </a:r>
          </a:p>
          <a:p>
            <a:pPr algn="l">
              <a:spcBef>
                <a:spcPts val="120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• Запуск клавишей a в терминале</a:t>
            </a:r>
          </a:p>
          <a:p>
            <a:pPr algn="l">
              <a:spcBef>
                <a:spcPts val="120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• Сеть не нужна, всё локально</a:t>
            </a:r>
          </a:p>
          <a:p>
            <a:pPr algn="l">
              <a:spcBef>
                <a:spcPts val="120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• Горячая перезагрузка работает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788920"/>
            <a:ext cx="525780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• Телефон с Android и Expo Go</a:t>
            </a:r>
          </a:p>
          <a:p>
            <a:pPr algn="l">
              <a:spcBef>
                <a:spcPts val="120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• Общая с компьютером сеть Wi-Fi</a:t>
            </a:r>
          </a:p>
          <a:p>
            <a:pPr algn="l">
              <a:spcBef>
                <a:spcPts val="120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• Сканирование QR-кода</a:t>
            </a:r>
          </a:p>
          <a:p>
            <a:pPr algn="l">
              <a:spcBef>
                <a:spcPts val="120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• Можно подстраховаться кабелем</a:t>
            </a:r>
          </a:p>
          <a:p>
            <a:pPr algn="l">
              <a:spcBef>
                <a:spcPts val="120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• Горячая перезагрузка работает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5897880"/>
            <a:ext cx="11057839" cy="566928"/>
          </a:xfrm>
          <a:prstGeom prst="roundRect">
            <a:avLst/>
          </a:prstGeom>
          <a:solidFill>
            <a:srgbClr val="F3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8096" y="6025896"/>
            <a:ext cx="10655503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750A4"/>
                </a:solidFill>
                <a:latin typeface="Segoe UI"/>
              </a:rPr>
              <a:t>Эмулятор удобнее для показа: не нужно ничего подключать, настраивать и заряжать — и видно на проекторе.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1535" y="638251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9A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1105783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Segoe UI"/>
              </a:rPr>
              <a:t>Способ 1. Эмулятор Android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15568"/>
            <a:ext cx="1371600" cy="50292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1261872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B6B6B"/>
                </a:solidFill>
                <a:latin typeface="Segoe UI"/>
              </a:rPr>
              <a:t>Нужно настроить один раз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3736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750A4"/>
                </a:solidFill>
                <a:latin typeface="Segoe UI"/>
              </a:rPr>
              <a:t>Что должно быть на компьютере</a:t>
            </a:r>
          </a:p>
        </p:txBody>
      </p:sp>
      <p:sp>
        <p:nvSpPr>
          <p:cNvPr id="6" name="Oval 5"/>
          <p:cNvSpPr/>
          <p:nvPr/>
        </p:nvSpPr>
        <p:spPr>
          <a:xfrm>
            <a:off x="566928" y="2194560"/>
            <a:ext cx="475488" cy="475488"/>
          </a:xfrm>
          <a:prstGeom prst="ellipse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2286000"/>
            <a:ext cx="47548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2212848"/>
            <a:ext cx="10332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A1A1A"/>
                </a:solidFill>
                <a:latin typeface="Segoe UI"/>
              </a:rPr>
              <a:t>Включена аппаратная виртуализация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Segoe UI"/>
              </a:rPr>
              <a:t>BIOS/UEFI: Intel VT-x или SVM Mode. Проверка в Windows: Диспетчер задач → Производительность → ЦП → Виртуализация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3246120"/>
            <a:ext cx="475488" cy="475488"/>
          </a:xfrm>
          <a:prstGeom prst="ellipse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6928" y="3337560"/>
            <a:ext cx="47548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3264408"/>
            <a:ext cx="10332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A1A1A"/>
                </a:solidFill>
                <a:latin typeface="Segoe UI"/>
              </a:rPr>
              <a:t>Установлен Android Studio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Segoe UI"/>
              </a:rPr>
              <a:t>Скачивается с developer.android.com, вместе с ним ставится Android SDK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4297680"/>
            <a:ext cx="475488" cy="475488"/>
          </a:xfrm>
          <a:prstGeom prst="ellipse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6928" y="4389120"/>
            <a:ext cx="47548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8448" y="4315968"/>
            <a:ext cx="10332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A1A1A"/>
                </a:solidFill>
                <a:latin typeface="Segoe UI"/>
              </a:rPr>
              <a:t>Создан виртуальный телефон (AVD)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Segoe UI"/>
              </a:rPr>
              <a:t>Device Manager → Create Virtual Device → профиль Pixel 6 → образ API 34 с подписью Google Play → Finish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897880"/>
            <a:ext cx="11057839" cy="566928"/>
          </a:xfrm>
          <a:prstGeom prst="roundRect">
            <a:avLst/>
          </a:prstGeom>
          <a:solidFill>
            <a:srgbClr val="F3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68096" y="6025896"/>
            <a:ext cx="10655503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750A4"/>
                </a:solidFill>
                <a:latin typeface="Segoe UI"/>
              </a:rPr>
              <a:t>Нужен именно образ с Google Play: без него Expo Go не установится из маркета.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11535" y="638251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9A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1105783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Segoe UI"/>
              </a:rPr>
              <a:t>Способ 1. Запуск в эмуляторе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15568"/>
            <a:ext cx="1371600" cy="50292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66928" y="1783080"/>
            <a:ext cx="475488" cy="475488"/>
          </a:xfrm>
          <a:prstGeom prst="ellipse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874520"/>
            <a:ext cx="47548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1801368"/>
            <a:ext cx="54864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A1A1A"/>
                </a:solidFill>
                <a:latin typeface="Segoe UI"/>
              </a:rPr>
              <a:t>Запустить эмулятор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Segoe UI"/>
              </a:rPr>
              <a:t>Device Manager → зелёная кнопка ▶ напротив AVD. Дождаться рабочего стола Android</a:t>
            </a:r>
          </a:p>
        </p:txBody>
      </p:sp>
      <p:sp>
        <p:nvSpPr>
          <p:cNvPr id="7" name="Oval 6"/>
          <p:cNvSpPr/>
          <p:nvPr/>
        </p:nvSpPr>
        <p:spPr>
          <a:xfrm>
            <a:off x="566928" y="2697480"/>
            <a:ext cx="475488" cy="475488"/>
          </a:xfrm>
          <a:prstGeom prst="ellipse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2788920"/>
            <a:ext cx="47548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2715768"/>
            <a:ext cx="54864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A1A1A"/>
                </a:solidFill>
                <a:latin typeface="Segoe UI"/>
              </a:rPr>
              <a:t>Запустить Metro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Segoe UI"/>
              </a:rPr>
              <a:t>npx expo start в терминале проекта</a:t>
            </a:r>
          </a:p>
        </p:txBody>
      </p:sp>
      <p:sp>
        <p:nvSpPr>
          <p:cNvPr id="10" name="Oval 9"/>
          <p:cNvSpPr/>
          <p:nvPr/>
        </p:nvSpPr>
        <p:spPr>
          <a:xfrm>
            <a:off x="566928" y="3611880"/>
            <a:ext cx="475488" cy="475488"/>
          </a:xfrm>
          <a:prstGeom prst="ellipse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3703320"/>
            <a:ext cx="47548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3630168"/>
            <a:ext cx="54864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A1A1A"/>
                </a:solidFill>
                <a:latin typeface="Segoe UI"/>
              </a:rPr>
              <a:t>Нажать a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Segoe UI"/>
              </a:rPr>
              <a:t>Expo Go откроется на эмуляторе сам и подключится к проекту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49440" y="1783080"/>
            <a:ext cx="4663440" cy="2743200"/>
          </a:xfrm>
          <a:prstGeom prst="roundRect">
            <a:avLst/>
          </a:prstGeom>
          <a:solidFill>
            <a:srgbClr val="F3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23760" y="2011680"/>
            <a:ext cx="411480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6750A4"/>
                </a:solidFill>
                <a:latin typeface="Segoe UI"/>
              </a:rPr>
              <a:t>Полезные клавиши Metro</a:t>
            </a:r>
          </a:p>
          <a:p>
            <a:pPr>
              <a:spcBef>
                <a:spcPts val="700"/>
              </a:spcBef>
            </a:pPr>
            <a:r>
              <a:rPr sz="1600" b="1">
                <a:solidFill>
                  <a:srgbClr val="1A1A1A"/>
                </a:solidFill>
                <a:latin typeface="Consolas"/>
              </a:rPr>
              <a:t>a</a:t>
            </a:r>
            <a:r>
              <a:rPr sz="1500">
                <a:solidFill>
                  <a:srgbClr val="6B6B6B"/>
                </a:solidFill>
                <a:latin typeface="Segoe UI"/>
              </a:rPr>
              <a:t>   открыть на Android</a:t>
            </a:r>
          </a:p>
          <a:p>
            <a:pPr>
              <a:spcBef>
                <a:spcPts val="700"/>
              </a:spcBef>
            </a:pPr>
            <a:r>
              <a:rPr sz="1600" b="1">
                <a:solidFill>
                  <a:srgbClr val="1A1A1A"/>
                </a:solidFill>
                <a:latin typeface="Consolas"/>
              </a:rPr>
              <a:t>r</a:t>
            </a:r>
            <a:r>
              <a:rPr sz="1500">
                <a:solidFill>
                  <a:srgbClr val="6B6B6B"/>
                </a:solidFill>
                <a:latin typeface="Segoe UI"/>
              </a:rPr>
              <a:t>   перезагрузить приложение</a:t>
            </a:r>
          </a:p>
          <a:p>
            <a:pPr>
              <a:spcBef>
                <a:spcPts val="700"/>
              </a:spcBef>
            </a:pPr>
            <a:r>
              <a:rPr sz="1600" b="1">
                <a:solidFill>
                  <a:srgbClr val="1A1A1A"/>
                </a:solidFill>
                <a:latin typeface="Consolas"/>
              </a:rPr>
              <a:t>d</a:t>
            </a:r>
            <a:r>
              <a:rPr sz="1500">
                <a:solidFill>
                  <a:srgbClr val="6B6B6B"/>
                </a:solidFill>
                <a:latin typeface="Segoe UI"/>
              </a:rPr>
              <a:t>   меню разработчика</a:t>
            </a:r>
          </a:p>
          <a:p>
            <a:pPr>
              <a:spcBef>
                <a:spcPts val="700"/>
              </a:spcBef>
            </a:pPr>
            <a:r>
              <a:rPr sz="1600" b="1">
                <a:solidFill>
                  <a:srgbClr val="1A1A1A"/>
                </a:solidFill>
                <a:latin typeface="Consolas"/>
              </a:rPr>
              <a:t>q</a:t>
            </a:r>
            <a:r>
              <a:rPr sz="1500">
                <a:solidFill>
                  <a:srgbClr val="6B6B6B"/>
                </a:solidFill>
                <a:latin typeface="Segoe UI"/>
              </a:rPr>
              <a:t>   остановить Metro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897880"/>
            <a:ext cx="11057839" cy="566928"/>
          </a:xfrm>
          <a:prstGeom prst="roundRect">
            <a:avLst/>
          </a:prstGeom>
          <a:solidFill>
            <a:srgbClr val="F3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68096" y="6025896"/>
            <a:ext cx="10655503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750A4"/>
                </a:solidFill>
                <a:latin typeface="Segoe UI"/>
              </a:rPr>
              <a:t>Если эмулятор запущен, а Metro его не видит — нажмите r в терминале.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11535" y="638251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9A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1105783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Segoe UI"/>
              </a:rPr>
              <a:t>Способ 2. Настоящий телефон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15568"/>
            <a:ext cx="1371600" cy="50292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66928" y="1737360"/>
            <a:ext cx="5440680" cy="4572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901952"/>
            <a:ext cx="54406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A1A1A"/>
                </a:solidFill>
                <a:latin typeface="Segoe UI"/>
              </a:rPr>
              <a:t>Через Wi-Fi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423160"/>
            <a:ext cx="5440680" cy="2057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• Телефон и компьютер в одной сети</a:t>
            </a:r>
          </a:p>
          <a:p>
            <a:pPr algn="l">
              <a:spcBef>
                <a:spcPts val="120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• Установить Expo Go из Google Play</a:t>
            </a:r>
          </a:p>
          <a:p>
            <a:pPr algn="l">
              <a:spcBef>
                <a:spcPts val="120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• Навести камеру на QR-код</a:t>
            </a:r>
          </a:p>
          <a:p>
            <a:pPr algn="l">
              <a:spcBef>
                <a:spcPts val="120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• Либо Enter URL manually в Expo 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617720"/>
            <a:ext cx="54406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6B6B"/>
                </a:solidFill>
                <a:latin typeface="Segoe UI"/>
              </a:rPr>
              <a:t>Адрес компьютера смотрим через ipconfig → IPv4-адрес Wi-Fi-адаптера</a:t>
            </a:r>
          </a:p>
        </p:txBody>
      </p:sp>
      <p:sp>
        <p:nvSpPr>
          <p:cNvPr id="8" name="Rectangle 7"/>
          <p:cNvSpPr/>
          <p:nvPr/>
        </p:nvSpPr>
        <p:spPr>
          <a:xfrm>
            <a:off x="6446520" y="1737360"/>
            <a:ext cx="5166360" cy="4572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901952"/>
            <a:ext cx="51663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A1A1A"/>
                </a:solidFill>
                <a:latin typeface="Segoe UI"/>
              </a:rPr>
              <a:t>Отладка по кабелю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423160"/>
            <a:ext cx="516636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• Настройки → О телефоне</a:t>
            </a:r>
          </a:p>
          <a:p>
            <a:pPr algn="l">
              <a:spcBef>
                <a:spcPts val="110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• 7 раз тапнуть по «Номер сборки»</a:t>
            </a:r>
          </a:p>
          <a:p>
            <a:pPr algn="l">
              <a:spcBef>
                <a:spcPts val="110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• Система → Для разработчиков</a:t>
            </a:r>
          </a:p>
          <a:p>
            <a:pPr algn="l">
              <a:spcBef>
                <a:spcPts val="110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• Включить «Отладка по USB»</a:t>
            </a:r>
          </a:p>
          <a:p>
            <a:pPr algn="l">
              <a:spcBef>
                <a:spcPts val="110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• Подтвердить «Разрешить отладку по USB»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5897880"/>
            <a:ext cx="11057839" cy="566928"/>
          </a:xfrm>
          <a:prstGeom prst="roundRect">
            <a:avLst/>
          </a:prstGeom>
          <a:solidFill>
            <a:srgbClr val="F3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8096" y="6025896"/>
            <a:ext cx="10655503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750A4"/>
                </a:solidFill>
                <a:latin typeface="Segoe UI"/>
              </a:rPr>
              <a:t>Настройка кабелем нужна один раз — дальше телефон подхватывает проект автоматически.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1535" y="638251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9A"/>
                </a:solidFill>
                <a:latin typeface="Segoe U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750A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920240"/>
            <a:ext cx="11057839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D9CFF2"/>
                </a:solidFill>
                <a:latin typeface="Segoe UI"/>
              </a:rPr>
              <a:t>ШАГ 2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Segoe UI"/>
              </a:rPr>
              <a:t>Ставим React Navigation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3401568"/>
            <a:ext cx="173736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657600"/>
            <a:ext cx="1105783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E8E2F7"/>
                </a:solidFill>
                <a:latin typeface="Segoe UI"/>
              </a:rPr>
              <a:t>00:18 — 00:32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43400"/>
            <a:ext cx="105156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DED6F2"/>
                </a:solidFill>
                <a:latin typeface="Segoe UI"/>
              </a:rPr>
              <a:t>•  npx expo install — 4 пакета за одну команду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700" b="0" i="0">
                <a:solidFill>
                  <a:srgbClr val="DED6F2"/>
                </a:solidFill>
                <a:latin typeface="Segoe UI"/>
              </a:rPr>
              <a:t>•  Почему именно npx expo install, а не npm install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700" b="0" i="0">
                <a:solidFill>
                  <a:srgbClr val="DED6F2"/>
                </a:solidFill>
                <a:latin typeface="Segoe UI"/>
              </a:rPr>
              <a:t>•  Что делает каждый из пакетов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38251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9A"/>
                </a:solidFill>
                <a:latin typeface="Segoe U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1105783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Segoe UI"/>
              </a:rPr>
              <a:t>Шаг 2. Установка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15568"/>
            <a:ext cx="1371600" cy="50292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1261872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B6B6B"/>
                </a:solidFill>
                <a:latin typeface="Segoe UI"/>
              </a:rPr>
              <a:t>30–90 секунд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737360"/>
            <a:ext cx="11057839" cy="1066331"/>
          </a:xfrm>
          <a:prstGeom prst="round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737360"/>
            <a:ext cx="11057839" cy="310896"/>
          </a:xfrm>
          <a:prstGeom prst="rect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8096" y="1792224"/>
            <a:ext cx="10692079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4B4B4"/>
                </a:solidFill>
                <a:latin typeface="Segoe UI"/>
              </a:rPr>
              <a:t>PowerShell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136038"/>
            <a:ext cx="10765231" cy="7554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nsolas"/>
              </a:rPr>
              <a:t>npx expo install @react-navigation/native @react-navigation/native-stack \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400" b="0" i="0">
                <a:solidFill>
                  <a:srgbClr val="D4D4D4"/>
                </a:solidFill>
                <a:latin typeface="Consolas"/>
              </a:rPr>
              <a:t>    react-native-screens react-native-safe-area-context</a:t>
            </a:r>
          </a:p>
        </p:txBody>
      </p:sp>
      <p:pic>
        <p:nvPicPr>
          <p:cNvPr id="9" name="Picture 8" descr="term-01-inst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246120"/>
            <a:ext cx="10607040" cy="19775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5532120"/>
            <a:ext cx="1105783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B6B6B"/>
                </a:solidFill>
                <a:latin typeface="Segoe UI"/>
              </a:rPr>
              <a:t>Это не ошибка: из четырёх пакетов два содержат нативный код и должны быть собраны под вашу версию SDK, а два остальных — обычный JavaScript.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11535" y="638251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9A"/>
                </a:solidFill>
                <a:latin typeface="Segoe U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1105783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Segoe UI"/>
              </a:rPr>
              <a:t>Что установилось и зачем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15568"/>
            <a:ext cx="1371600" cy="50292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66928" y="1737360"/>
            <a:ext cx="11057839" cy="713232"/>
          </a:xfrm>
          <a:prstGeom prst="rect">
            <a:avLst/>
          </a:prstGeom>
          <a:solidFill>
            <a:srgbClr val="F3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95528" y="1938528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Consolas"/>
              </a:rPr>
              <a:t>@react-navigation/native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96128" y="1956816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750A4"/>
                </a:solidFill>
                <a:latin typeface="Segoe UI"/>
              </a:rPr>
              <a:t>Ядро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73568" y="1956816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B6B6B"/>
                </a:solidFill>
                <a:latin typeface="Segoe UI"/>
              </a:rPr>
              <a:t>Контейнер, переходы, состояние навигации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450592"/>
            <a:ext cx="11057839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5528" y="265176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Consolas"/>
              </a:rPr>
              <a:t>@react-navigation/native-stack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96128" y="2670048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750A4"/>
                </a:solidFill>
                <a:latin typeface="Segoe UI"/>
              </a:rPr>
              <a:t>Стек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73568" y="2670048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B6B6B"/>
                </a:solidFill>
                <a:latin typeface="Segoe UI"/>
              </a:rPr>
              <a:t>Экраны как стопка карточек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163824"/>
            <a:ext cx="11057839" cy="713232"/>
          </a:xfrm>
          <a:prstGeom prst="rect">
            <a:avLst/>
          </a:prstGeom>
          <a:solidFill>
            <a:srgbClr val="F3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5528" y="3364992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Consolas"/>
              </a:rPr>
              <a:t>react-native-screens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96128" y="338328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750A4"/>
                </a:solidFill>
                <a:latin typeface="Segoe UI"/>
              </a:rPr>
              <a:t>Нативный код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73568" y="338328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B6B6B"/>
                </a:solidFill>
                <a:latin typeface="Segoe UI"/>
              </a:rPr>
              <a:t>Быстрые анимации переходов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3877056"/>
            <a:ext cx="11057839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5528" y="4078224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Consolas"/>
              </a:rPr>
              <a:t>react-native-safe-area-context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096512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750A4"/>
                </a:solidFill>
                <a:latin typeface="Segoe UI"/>
              </a:rPr>
              <a:t>Нативный код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73568" y="4096512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B6B6B"/>
                </a:solidFill>
                <a:latin typeface="Segoe UI"/>
              </a:rPr>
              <a:t>Отступы от вырезов и чёлки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846320"/>
            <a:ext cx="11057839" cy="1097280"/>
          </a:xfrm>
          <a:prstGeom prst="round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6968" y="5029200"/>
            <a:ext cx="10417759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Segoe UI"/>
              </a:rPr>
              <a:t>Почему npx expo install, а не npm install?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400" b="0" i="0">
                <a:solidFill>
                  <a:srgbClr val="C5C5C5"/>
                </a:solidFill>
                <a:latin typeface="Segoe UI"/>
              </a:rPr>
              <a:t>Expo знает версии пакетов, совместимые с вашим SDK. Обычный npm install может поставить слишком новую или слишком старую версию — и приложение упадёт с непонятной ошибкой.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11535" y="638251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9A"/>
                </a:solidFill>
                <a:latin typeface="Segoe U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750A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920240"/>
            <a:ext cx="11057839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D9CFF2"/>
                </a:solidFill>
                <a:latin typeface="Segoe UI"/>
              </a:rPr>
              <a:t>ШАГ 3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Segoe UI"/>
              </a:rPr>
              <a:t>Создаём четыре экрана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3401568"/>
            <a:ext cx="173736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657600"/>
            <a:ext cx="1105783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E8E2F7"/>
                </a:solidFill>
                <a:latin typeface="Segoe UI"/>
              </a:rPr>
              <a:t>00:32 — 00:50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43400"/>
            <a:ext cx="105156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DED6F2"/>
                </a:solidFill>
                <a:latin typeface="Segoe UI"/>
              </a:rPr>
              <a:t>•  Экраны без навигации — это обычные компоненты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700" b="0" i="0">
                <a:solidFill>
                  <a:srgbClr val="DED6F2"/>
                </a:solidFill>
                <a:latin typeface="Segoe UI"/>
              </a:rPr>
              <a:t>•  Переиспользуемый компонент Option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700" b="0" i="0">
                <a:solidFill>
                  <a:srgbClr val="DED6F2"/>
                </a:solidFill>
                <a:latin typeface="Segoe UI"/>
              </a:rPr>
              <a:t>•  Start → Начинка → Дата → Итог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38251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9A"/>
                </a:solidFill>
                <a:latin typeface="Segoe U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1105783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Segoe UI"/>
              </a:rPr>
              <a:t>Шаг 3. Данные и компонент Option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15568"/>
            <a:ext cx="1371600" cy="50292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1261872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B6B6B"/>
                </a:solidFill>
                <a:latin typeface="Segoe UI"/>
              </a:rPr>
              <a:t>Оба экрана выбора устроены одинаково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737360"/>
            <a:ext cx="5943600" cy="3182112"/>
          </a:xfrm>
          <a:prstGeom prst="round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737360"/>
            <a:ext cx="5943600" cy="310896"/>
          </a:xfrm>
          <a:prstGeom prst="rect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8096" y="1792224"/>
            <a:ext cx="55778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4B4B4"/>
                </a:solidFill>
                <a:latin typeface="Segoe UI"/>
              </a:rPr>
              <a:t>App.tsx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136038"/>
            <a:ext cx="5650992" cy="2871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4D4D4"/>
                </a:solidFill>
                <a:latin typeface="Consolas"/>
              </a:rPr>
              <a:t>const FLAVORS = [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 i="0">
                <a:solidFill>
                  <a:srgbClr val="D4D4D4"/>
                </a:solidFill>
                <a:latin typeface="Consolas"/>
              </a:rPr>
              <a:t>  { name: 'Ваниль', emoji: '🍦' },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 i="0">
                <a:solidFill>
                  <a:srgbClr val="D4D4D4"/>
                </a:solidFill>
                <a:latin typeface="Consolas"/>
              </a:rPr>
              <a:t>  { name: 'Шоколад', emoji: '🍫' },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 i="0">
                <a:solidFill>
                  <a:srgbClr val="D4D4D4"/>
                </a:solidFill>
                <a:latin typeface="Consolas"/>
              </a:rPr>
              <a:t>  { name: 'Клубника', emoji: '🍓' },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 i="0">
                <a:solidFill>
                  <a:srgbClr val="D4D4D4"/>
                </a:solidFill>
                <a:latin typeface="Consolas"/>
              </a:rPr>
              <a:t>  { name: 'Лимон', emoji: '🍋' },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 i="0">
                <a:solidFill>
                  <a:srgbClr val="D4D4D4"/>
                </a:solidFill>
                <a:latin typeface="Consolas"/>
              </a:rPr>
              <a:t>];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 i="0">
                <a:solidFill>
                  <a:srgbClr val="D4D4D4"/>
                </a:solidFill>
                <a:latin typeface="Consolas"/>
              </a:rPr>
              <a:t>const DATES = [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 i="0">
                <a:solidFill>
                  <a:srgbClr val="D4D4D4"/>
                </a:solidFill>
                <a:latin typeface="Consolas"/>
              </a:rPr>
              <a:t>  { name: 'Сегодня', emoji: '📅' },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 i="0">
                <a:solidFill>
                  <a:srgbClr val="D4D4D4"/>
                </a:solidFill>
                <a:latin typeface="Consolas"/>
              </a:rPr>
              <a:t>  { name: 'Завтра', emoji: '🗓️' },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 i="0">
                <a:solidFill>
                  <a:srgbClr val="D4D4D4"/>
                </a:solidFill>
                <a:latin typeface="Consolas"/>
              </a:rPr>
              <a:t>  { name: 'Послезавтра', emoji: '📆' },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300" b="0" i="0">
                <a:solidFill>
                  <a:srgbClr val="D4D4D4"/>
                </a:solidFill>
                <a:latin typeface="Consolas"/>
              </a:rPr>
              <a:t>];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20840" y="1737360"/>
            <a:ext cx="4892040" cy="2785403"/>
          </a:xfrm>
          <a:prstGeom prst="round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720840" y="1737360"/>
            <a:ext cx="4892040" cy="310896"/>
          </a:xfrm>
          <a:prstGeom prst="rect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922008" y="1792224"/>
            <a:ext cx="45262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4B4B4"/>
                </a:solidFill>
                <a:latin typeface="Segoe UI"/>
              </a:rPr>
              <a:t>App.tsx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67144" y="2136038"/>
            <a:ext cx="4599432" cy="24745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function Option({ emoji, title,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selected, onPress }: any) {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return (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  &lt;Pressable onPress={onPress}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    style={[styles.option,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      selected &amp;&amp; styles.optionSelected]}&gt;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    &lt;Text style={styles.optionEmoji}&gt;{emoji}&lt;/Text&gt;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    &lt;Text style={styles.optionTitle}&gt;{title}&lt;/Text&gt;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  &lt;/Pressable&gt;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);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5394960"/>
            <a:ext cx="11057839" cy="566928"/>
          </a:xfrm>
          <a:prstGeom prst="roundRect">
            <a:avLst/>
          </a:prstGeom>
          <a:solidFill>
            <a:srgbClr val="F3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8096" y="5522976"/>
            <a:ext cx="10655503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750A4"/>
                </a:solidFill>
                <a:latin typeface="Segoe UI"/>
              </a:rPr>
              <a:t>Pressable вместо View: View не знает про касания. Преобразование массива в список компонентов делает .map(), ключ key обязателен.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11535" y="638251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9A"/>
                </a:solidFill>
                <a:latin typeface="Segoe U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1105783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Segoe UI"/>
              </a:rPr>
              <a:t>Шаг 3. Стартовый экран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15568"/>
            <a:ext cx="1371600" cy="50292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1737360"/>
            <a:ext cx="6309360" cy="3578820"/>
          </a:xfrm>
          <a:prstGeom prst="round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1737360"/>
            <a:ext cx="6309360" cy="310896"/>
          </a:xfrm>
          <a:prstGeom prst="rect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8096" y="1792224"/>
            <a:ext cx="59436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4B4B4"/>
                </a:solidFill>
                <a:latin typeface="Segoe UI"/>
              </a:rPr>
              <a:t>App.tsx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136038"/>
            <a:ext cx="6016752" cy="32679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function StartScreen() {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return (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  &lt;View style={styles.center}&gt;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    &lt;Text style={styles.bigEmoji}&gt;🧁&lt;/Text&gt;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    &lt;Text style={styles.heading}&gt;Cupcake&lt;/Text&gt;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    &lt;Text style={styles.subtitle}&gt;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      Закажите торт и мы приготовим его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      к указанному времени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    &lt;/Text&gt;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    &lt;Pressable style={styles.button}&gt;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      &lt;Text style={styles.buttonText}&gt;Заказать торт&lt;/Text&gt;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    &lt;/Pressable&gt;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  &lt;/View&gt;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);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60920" y="1554480"/>
            <a:ext cx="2102391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01-st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600200"/>
            <a:ext cx="2010951" cy="4206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911535" y="638251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9A"/>
                </a:solidFill>
                <a:latin typeface="Segoe U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1105783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Segoe UI"/>
              </a:rPr>
              <a:t>Шаг 3. Экран выбора начинки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15568"/>
            <a:ext cx="1371600" cy="50292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1737360"/>
            <a:ext cx="6309360" cy="4058177"/>
          </a:xfrm>
          <a:prstGeom prst="round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1737360"/>
            <a:ext cx="6309360" cy="310896"/>
          </a:xfrm>
          <a:prstGeom prst="rect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8096" y="1792224"/>
            <a:ext cx="59436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4B4B4"/>
                </a:solidFill>
                <a:latin typeface="Segoe UI"/>
              </a:rPr>
              <a:t>App.tsx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136038"/>
            <a:ext cx="6016752" cy="374728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D4D4D4"/>
                </a:solidFill>
                <a:latin typeface="Consolas"/>
              </a:rPr>
              <a:t>function FlavorScreen() {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D4D4D4"/>
                </a:solidFill>
                <a:latin typeface="Consolas"/>
              </a:rPr>
              <a:t>  const [flavor, setFlavor] = useState&lt;string | null&gt;(null);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D4D4D4"/>
                </a:solidFill>
                <a:latin typeface="Consolas"/>
              </a:rPr>
              <a:t>  return (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D4D4D4"/>
                </a:solidFill>
                <a:latin typeface="Consolas"/>
              </a:rPr>
              <a:t>    &lt;View style={styles.container}&gt;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D4D4D4"/>
                </a:solidFill>
                <a:latin typeface="Consolas"/>
              </a:rPr>
              <a:t>      &lt;Text style={styles.heading}&gt;Выберите начинку&lt;/Text&gt;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D4D4D4"/>
                </a:solidFill>
                <a:latin typeface="Consolas"/>
              </a:rPr>
              <a:t>      &lt;Text style={styles.subtitle}&gt;Шаг 1 из 3&lt;/Text&gt;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D4D4D4"/>
                </a:solidFill>
                <a:latin typeface="Consolas"/>
              </a:rPr>
              <a:t> 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D4D4D4"/>
                </a:solidFill>
                <a:latin typeface="Consolas"/>
              </a:rPr>
              <a:t>      &lt;View style={styles.list}&gt;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D4D4D4"/>
                </a:solidFill>
                <a:latin typeface="Consolas"/>
              </a:rPr>
              <a:t>        {FLAVORS.map((item) =&gt; (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D4D4D4"/>
                </a:solidFill>
                <a:latin typeface="Consolas"/>
              </a:rPr>
              <a:t>          &lt;Option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D4D4D4"/>
                </a:solidFill>
                <a:latin typeface="Consolas"/>
              </a:rPr>
              <a:t>            key={item.name}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D4D4D4"/>
                </a:solidFill>
                <a:latin typeface="Consolas"/>
              </a:rPr>
              <a:t>            emoji={item.emoji}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D4D4D4"/>
                </a:solidFill>
                <a:latin typeface="Consolas"/>
              </a:rPr>
              <a:t>            title={item.name}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D4D4D4"/>
                </a:solidFill>
                <a:latin typeface="Consolas"/>
              </a:rPr>
              <a:t>            selected={flavor === item.name}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D4D4D4"/>
                </a:solidFill>
                <a:latin typeface="Consolas"/>
              </a:rPr>
              <a:t>            onPress={() =&gt; setFlavor(item.name)}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D4D4D4"/>
                </a:solidFill>
                <a:latin typeface="Consolas"/>
              </a:rPr>
              <a:t>          /&gt;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D4D4D4"/>
                </a:solidFill>
                <a:latin typeface="Consolas"/>
              </a:rPr>
              <a:t>        ))}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D4D4D4"/>
                </a:solidFill>
                <a:latin typeface="Consolas"/>
              </a:rPr>
              <a:t>      &lt;/View&gt;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600200"/>
            <a:ext cx="1665228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02-flav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645920"/>
            <a:ext cx="1573788" cy="3291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178040" y="5084064"/>
            <a:ext cx="212242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6B6B"/>
                </a:solidFill>
                <a:latin typeface="Segoe UI"/>
              </a:rPr>
              <a:t>ничего не выбрано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20508" y="1600200"/>
            <a:ext cx="1665228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03-flavor-selec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6228" y="1645920"/>
            <a:ext cx="1573788" cy="32918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391908" y="5084064"/>
            <a:ext cx="212242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6B6B"/>
                </a:solidFill>
                <a:latin typeface="Segoe UI"/>
              </a:rPr>
              <a:t>выбран «Шоколад»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11535" y="638251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9A"/>
                </a:solidFill>
                <a:latin typeface="Segoe U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1105783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Segoe UI"/>
              </a:rPr>
              <a:t>Шаг 3. Кнопка «Далее» и экран даты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15568"/>
            <a:ext cx="1371600" cy="50292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1737360"/>
            <a:ext cx="6309360" cy="2190339"/>
          </a:xfrm>
          <a:prstGeom prst="round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1737360"/>
            <a:ext cx="6309360" cy="310896"/>
          </a:xfrm>
          <a:prstGeom prst="rect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8096" y="1792224"/>
            <a:ext cx="59436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4B4B4"/>
                </a:solidFill>
                <a:latin typeface="Segoe UI"/>
              </a:rPr>
              <a:t>App.tsx — шаг 5, подробно ниже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136038"/>
            <a:ext cx="6016752" cy="1879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    &lt;Pressable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      style={[styles.button,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        flavor === null &amp;&amp; styles.buttonDisabled]}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      disabled={flavor === null}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      onPress={() =&gt; navigation.navigate('Pickup', { flavor })}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    &gt;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      &lt;Text style={styles.buttonText}&gt;Далее&lt;/Text&gt;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    &lt;/Pressable&gt;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069080"/>
            <a:ext cx="6309360" cy="1396921"/>
          </a:xfrm>
          <a:prstGeom prst="round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4069080"/>
            <a:ext cx="6309360" cy="310896"/>
          </a:xfrm>
          <a:prstGeom prst="rect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" y="4123944"/>
            <a:ext cx="59436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4B4B4"/>
                </a:solidFill>
                <a:latin typeface="Segoe UI"/>
              </a:rPr>
              <a:t>App.tsx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4467758"/>
            <a:ext cx="6016752" cy="10860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function PickupScreen() {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const [date, setDate] = useState&lt;string | null&gt;(null);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// тот же список, но из массива DATES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1600200"/>
            <a:ext cx="1665228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04-pi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645920"/>
            <a:ext cx="1573788" cy="32918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178040" y="5084064"/>
            <a:ext cx="212242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6B6B"/>
                </a:solidFill>
                <a:latin typeface="Segoe UI"/>
              </a:rPr>
              <a:t>ничего не выбрано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20508" y="1600200"/>
            <a:ext cx="1665228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05-pickup-selec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6228" y="1645920"/>
            <a:ext cx="1573788" cy="32918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391908" y="5084064"/>
            <a:ext cx="212242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B6B6B"/>
                </a:solidFill>
                <a:latin typeface="Segoe UI"/>
              </a:rPr>
              <a:t>выбрано «Завтра»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11535" y="638251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9A"/>
                </a:solidFill>
                <a:latin typeface="Segoe U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1105783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Segoe UI"/>
              </a:rPr>
              <a:t>Шаг 3. Экран итога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15568"/>
            <a:ext cx="1371600" cy="50292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1737360"/>
            <a:ext cx="6309360" cy="3876352"/>
          </a:xfrm>
          <a:prstGeom prst="round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1737360"/>
            <a:ext cx="6309360" cy="310896"/>
          </a:xfrm>
          <a:prstGeom prst="rect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8096" y="1792224"/>
            <a:ext cx="59436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4B4B4"/>
                </a:solidFill>
                <a:latin typeface="Segoe UI"/>
              </a:rPr>
              <a:t>App.tsx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136038"/>
            <a:ext cx="6016752" cy="3565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D4D4D4"/>
                </a:solidFill>
                <a:latin typeface="Consolas"/>
              </a:rPr>
              <a:t>function SummaryScreen() {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D4D4D4"/>
                </a:solidFill>
                <a:latin typeface="Consolas"/>
              </a:rPr>
              <a:t>  return (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D4D4D4"/>
                </a:solidFill>
                <a:latin typeface="Consolas"/>
              </a:rPr>
              <a:t>    &lt;View style={styles.container}&gt;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D4D4D4"/>
                </a:solidFill>
                <a:latin typeface="Consolas"/>
              </a:rPr>
              <a:t>      &lt;Text style={styles.heading}&gt;Ваш заказ&lt;/Text&gt;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D4D4D4"/>
                </a:solidFill>
                <a:latin typeface="Consolas"/>
              </a:rPr>
              <a:t>      &lt;View style={styles.card}&gt;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D4D4D4"/>
                </a:solidFill>
                <a:latin typeface="Consolas"/>
              </a:rPr>
              <a:t>        &lt;View style={styles.cardRow}&gt;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D4D4D4"/>
                </a:solidFill>
                <a:latin typeface="Consolas"/>
              </a:rPr>
              <a:t>          &lt;Text style={styles.cardLabel}&gt;Начинка&lt;/Text&gt;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D4D4D4"/>
                </a:solidFill>
                <a:latin typeface="Consolas"/>
              </a:rPr>
              <a:t>          &lt;Text style={styles.cardValue}&gt;Шоколад&lt;/Text&gt;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D4D4D4"/>
                </a:solidFill>
                <a:latin typeface="Consolas"/>
              </a:rPr>
              <a:t>        &lt;/View&gt;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D4D4D4"/>
                </a:solidFill>
                <a:latin typeface="Consolas"/>
              </a:rPr>
              <a:t>        &lt;View style={styles.divider} /&gt;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D4D4D4"/>
                </a:solidFill>
                <a:latin typeface="Consolas"/>
              </a:rPr>
              <a:t>        &lt;View style={styles.cardRow}&gt;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D4D4D4"/>
                </a:solidFill>
                <a:latin typeface="Consolas"/>
              </a:rPr>
              <a:t>          &lt;Text style={styles.cardLabel}&gt;Забрать&lt;/Text&gt;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D4D4D4"/>
                </a:solidFill>
                <a:latin typeface="Consolas"/>
              </a:rPr>
              <a:t>          &lt;Text style={styles.cardValue}&gt;Завтра&lt;/Text&gt;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D4D4D4"/>
                </a:solidFill>
                <a:latin typeface="Consolas"/>
              </a:rPr>
              <a:t>        &lt;/View&gt;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D4D4D4"/>
                </a:solidFill>
                <a:latin typeface="Consolas"/>
              </a:rPr>
              <a:t>      &lt;/View&gt;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D4D4D4"/>
                </a:solidFill>
                <a:latin typeface="Consolas"/>
              </a:rPr>
              <a:t>    &lt;/View&gt;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D4D4D4"/>
                </a:solidFill>
                <a:latin typeface="Consolas"/>
              </a:rPr>
              <a:t>  );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1554480"/>
            <a:ext cx="2102391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06-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600200"/>
            <a:ext cx="2010951" cy="4206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911535" y="638251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9A"/>
                </a:solidFill>
                <a:latin typeface="Segoe U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1105783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Segoe UI"/>
              </a:rPr>
              <a:t>Явление: переходов пока нет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15568"/>
            <a:ext cx="1371600" cy="50292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2103120"/>
            <a:ext cx="6035040" cy="1347333"/>
          </a:xfrm>
          <a:prstGeom prst="round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2103120"/>
            <a:ext cx="6035040" cy="310896"/>
          </a:xfrm>
          <a:prstGeom prst="rect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8096" y="2157984"/>
            <a:ext cx="56692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4B4B4"/>
                </a:solidFill>
                <a:latin typeface="Segoe UI"/>
              </a:rPr>
              <a:t>App.tsx — пока так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501798"/>
            <a:ext cx="5742432" cy="103643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D4D4D4"/>
                </a:solidFill>
                <a:latin typeface="Consolas"/>
              </a:rPr>
              <a:t>export default function App() {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500" b="0" i="0">
                <a:solidFill>
                  <a:srgbClr val="D4D4D4"/>
                </a:solidFill>
                <a:latin typeface="Consolas"/>
              </a:rPr>
              <a:t>  return &lt;StartScreen /&gt;;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500" b="0" i="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2103120"/>
            <a:ext cx="466344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0" y="2103120"/>
            <a:ext cx="466344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A1A1A"/>
                </a:solidFill>
                <a:latin typeface="Segoe UI"/>
              </a:rPr>
              <a:t>• Приложение показывает только Start</a:t>
            </a:r>
          </a:p>
          <a:p>
            <a:pPr algn="l">
              <a:spcBef>
                <a:spcPts val="1400"/>
              </a:spcBef>
              <a:spcAft>
                <a:spcPts val="0"/>
              </a:spcAft>
            </a:pPr>
            <a:r>
              <a:rPr sz="1700" b="0" i="0">
                <a:solidFill>
                  <a:srgbClr val="1A1A1A"/>
                </a:solidFill>
                <a:latin typeface="Segoe UI"/>
              </a:rPr>
              <a:t>• Кнопка «Заказать торт» ничего не делает</a:t>
            </a:r>
          </a:p>
          <a:p>
            <a:pPr algn="l">
              <a:spcBef>
                <a:spcPts val="1400"/>
              </a:spcBef>
              <a:spcAft>
                <a:spcPts val="0"/>
              </a:spcAft>
            </a:pPr>
            <a:r>
              <a:rPr sz="1700" b="0" i="0">
                <a:solidFill>
                  <a:srgbClr val="1A1A1A"/>
                </a:solidFill>
                <a:latin typeface="Segoe UI"/>
              </a:rPr>
              <a:t>• Навигации в проекте ещё нет — сейчас добавим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5897880"/>
            <a:ext cx="11057839" cy="566928"/>
          </a:xfrm>
          <a:prstGeom prst="roundRect">
            <a:avLst/>
          </a:prstGeom>
          <a:solidFill>
            <a:srgbClr val="F3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6025896"/>
            <a:ext cx="10655503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750A4"/>
                </a:solidFill>
                <a:latin typeface="Segoe UI"/>
              </a:rPr>
              <a:t>Это ожидаемо. Сначала экраны, потом переходы — так проще заметить, что именно меняет навигация.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11535" y="638251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9A"/>
                </a:solidFill>
                <a:latin typeface="Segoe U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750A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920240"/>
            <a:ext cx="11057839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D9CFF2"/>
                </a:solidFill>
                <a:latin typeface="Segoe UI"/>
              </a:rPr>
              <a:t>ШАГ 4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Segoe UI"/>
              </a:rPr>
              <a:t>Собираем навигатор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3401568"/>
            <a:ext cx="173736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657600"/>
            <a:ext cx="1105783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E8E2F7"/>
                </a:solidFill>
                <a:latin typeface="Segoe UI"/>
              </a:rPr>
              <a:t>00:50 — 01:08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43400"/>
            <a:ext cx="105156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DED6F2"/>
                </a:solidFill>
                <a:latin typeface="Segoe UI"/>
              </a:rPr>
              <a:t>•  NavigationContainer, Stack.Navigator, Stack.Screen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700" b="0" i="0">
                <a:solidFill>
                  <a:srgbClr val="DED6F2"/>
                </a:solidFill>
                <a:latin typeface="Segoe UI"/>
              </a:rPr>
              <a:t>•  Создаём навигатор один раз, вне компонента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700" b="0" i="0">
                <a:solidFill>
                  <a:srgbClr val="DED6F2"/>
                </a:solidFill>
                <a:latin typeface="Segoe UI"/>
              </a:rPr>
              <a:t>•  Первый переход: navigate('Flavor')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38251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9A"/>
                </a:solidFill>
                <a:latin typeface="Segoe U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1105783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Segoe UI"/>
              </a:rPr>
              <a:t>Шаг 4. Каркас навигации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15568"/>
            <a:ext cx="1371600" cy="50292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code-01-naviga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00200"/>
            <a:ext cx="5331124" cy="4709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79" y="1600200"/>
            <a:ext cx="411480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79" y="1600200"/>
            <a:ext cx="411480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• NavigationContainer — самый внешний, хранит текущий экран и историю</a:t>
            </a:r>
          </a:p>
          <a:p>
            <a:pPr algn="l">
              <a:spcBef>
                <a:spcPts val="140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• Stack.Navigator — сам стек, описывает все экраны</a:t>
            </a:r>
          </a:p>
          <a:p>
            <a:pPr algn="l">
              <a:spcBef>
                <a:spcPts val="140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• Stack.Screen — один экран: name, component, options</a:t>
            </a:r>
          </a:p>
          <a:p>
            <a:pPr algn="l">
              <a:spcBef>
                <a:spcPts val="140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• initialRouteName — какой экран показать при запуске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38251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9A"/>
                </a:solidFill>
                <a:latin typeface="Segoe U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1105783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Segoe UI"/>
              </a:rPr>
              <a:t>Три элемента, без которых не работает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15568"/>
            <a:ext cx="1371600" cy="50292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66928" y="1737360"/>
            <a:ext cx="11057839" cy="914400"/>
          </a:xfrm>
          <a:prstGeom prst="rect">
            <a:avLst/>
          </a:prstGeom>
          <a:solidFill>
            <a:srgbClr val="F3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8" y="1993392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6750A4"/>
                </a:solidFill>
                <a:latin typeface="Consolas"/>
              </a:rPr>
              <a:t>NavigationContainer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64608" y="1883664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1A1A"/>
                </a:solidFill>
                <a:latin typeface="Segoe UI"/>
              </a:rPr>
              <a:t>Самый внешний компонент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90688" y="1901952"/>
            <a:ext cx="3840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Segoe UI"/>
              </a:rPr>
              <a:t>Хранит текущий экран и историю переходов. Без него Stack.Navigator не запустится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651760"/>
            <a:ext cx="11057839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" y="2907792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6750A4"/>
                </a:solidFill>
                <a:latin typeface="Consolas"/>
              </a:rPr>
              <a:t>Stack.Navigator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64608" y="2798064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1A1A"/>
                </a:solidFill>
                <a:latin typeface="Segoe UI"/>
              </a:rPr>
              <a:t>Описание стека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90688" y="2816352"/>
            <a:ext cx="3840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Segoe UI"/>
              </a:rPr>
              <a:t>Какие экраны существуют и в каком порядке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566160"/>
            <a:ext cx="11057839" cy="914400"/>
          </a:xfrm>
          <a:prstGeom prst="rect">
            <a:avLst/>
          </a:prstGeom>
          <a:solidFill>
            <a:srgbClr val="F3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" y="3822192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6750A4"/>
                </a:solidFill>
                <a:latin typeface="Consolas"/>
              </a:rPr>
              <a:t>Stack.Screen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4608" y="3712464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1A1A"/>
                </a:solidFill>
                <a:latin typeface="Segoe UI"/>
              </a:rPr>
              <a:t>Один экран стека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90688" y="3730752"/>
            <a:ext cx="3840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Segoe UI"/>
              </a:rPr>
              <a:t>name — имя для navigate, component — что рисовать, options — заголовок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709160"/>
            <a:ext cx="11057839" cy="566928"/>
          </a:xfrm>
          <a:prstGeom prst="roundRect">
            <a:avLst/>
          </a:prstGeom>
          <a:solidFill>
            <a:srgbClr val="F3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8096" y="4837176"/>
            <a:ext cx="10655503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750A4"/>
                </a:solidFill>
                <a:latin typeface="Segoe UI"/>
              </a:rPr>
              <a:t>createNativeStackNavigator() вызывается один раз на верхнем уровне файла. Внутри компонента стек будет сбрасываться при каждом рендере.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11535" y="638251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9A"/>
                </a:solidFill>
                <a:latin typeface="Segoe U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1105783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Segoe UI"/>
              </a:rPr>
              <a:t>Шаг 4. Первый переход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15568"/>
            <a:ext cx="1371600" cy="50292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1261872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B6B6B"/>
                </a:solidFill>
                <a:latin typeface="Segoe UI"/>
              </a:rPr>
              <a:t>Два изменения — и кнопка работает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737360"/>
            <a:ext cx="6766560" cy="3182112"/>
          </a:xfrm>
          <a:prstGeom prst="round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66928" y="1737360"/>
            <a:ext cx="6766560" cy="310896"/>
          </a:xfrm>
          <a:prstGeom prst="rect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8096" y="1792224"/>
            <a:ext cx="64008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4B4B4"/>
                </a:solidFill>
                <a:latin typeface="Segoe UI"/>
              </a:rPr>
              <a:t>App.tsx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136038"/>
            <a:ext cx="6473952" cy="2871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function StartScreen({ navigation }: any) {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return (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  &lt;View style={styles.center}&gt;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    ...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    &lt;Pressable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      style={styles.button}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      onPress={() =&gt; navigation.navigate('Flavor')}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    &gt;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      &lt;Text style={styles.buttonText}&gt;Заказать торт&lt;/Text&gt;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    &lt;/Pressable&gt;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  &lt;/View&gt;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);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1737360"/>
            <a:ext cx="4023360" cy="1595276"/>
          </a:xfrm>
          <a:prstGeom prst="round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589520" y="1737360"/>
            <a:ext cx="4023360" cy="310896"/>
          </a:xfrm>
          <a:prstGeom prst="rect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90688" y="1792224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4B4B4"/>
                </a:solidFill>
                <a:latin typeface="Segoe UI"/>
              </a:rPr>
              <a:t>Stack.Navigator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35824" y="2136038"/>
            <a:ext cx="3730752" cy="12843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&lt;Stack.Screen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name="Flavor"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component={FlavorScreen}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options={{ title: 'Начинка' }}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/&gt;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5120640"/>
            <a:ext cx="11057839" cy="566928"/>
          </a:xfrm>
          <a:prstGeom prst="roundRect">
            <a:avLst/>
          </a:prstGeom>
          <a:solidFill>
            <a:srgbClr val="F3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8096" y="5248656"/>
            <a:ext cx="10655503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750A4"/>
                </a:solidFill>
                <a:latin typeface="Segoe UI"/>
              </a:rPr>
              <a:t>Экран должен быть зарегистрирован в навигаторе, а компонент — получать navigation. Оба условия обязательны.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11535" y="638251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9A"/>
                </a:solidFill>
                <a:latin typeface="Segoe U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1105783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Segoe UI"/>
              </a:rPr>
              <a:t>Как устроен стек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15568"/>
            <a:ext cx="1371600" cy="50292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1920240"/>
            <a:ext cx="3383280" cy="219456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2103120"/>
            <a:ext cx="3383280" cy="384048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2176272"/>
            <a:ext cx="33832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20624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Segoe UI"/>
              </a:rPr>
              <a:t>После запуска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53128" y="1920240"/>
            <a:ext cx="3383280" cy="219456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453128" y="2103120"/>
            <a:ext cx="3383280" cy="384048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53128" y="2176272"/>
            <a:ext cx="33832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Flavor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09160" y="2487168"/>
            <a:ext cx="2871216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6750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09160" y="2615184"/>
            <a:ext cx="287121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750A4"/>
                </a:solidFill>
                <a:latin typeface="Segoe UI"/>
              </a:rPr>
              <a:t>Start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3128" y="420624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Segoe UI"/>
              </a:rPr>
              <a:t>После navigate('Flavor')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39328" y="1920240"/>
            <a:ext cx="3383280" cy="2194560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E4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339328" y="2103120"/>
            <a:ext cx="3383280" cy="384048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39328" y="2176272"/>
            <a:ext cx="33832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Summary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95360" y="2487168"/>
            <a:ext cx="2871216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6750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95360" y="2615184"/>
            <a:ext cx="2871216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750A4"/>
                </a:solidFill>
                <a:latin typeface="Segoe UI"/>
              </a:rPr>
              <a:t>Flavor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51392" y="2871216"/>
            <a:ext cx="235915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6750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51392" y="3054096"/>
            <a:ext cx="235915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750A4"/>
                </a:solidFill>
                <a:latin typeface="Segoe UI"/>
              </a:rPr>
              <a:t>Start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8" y="420624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Segoe UI"/>
              </a:rPr>
              <a:t>После navigate('Summary')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4892040"/>
            <a:ext cx="11057839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A1A1A"/>
                </a:solidFill>
                <a:latin typeface="Segoe UI"/>
              </a:rPr>
              <a:t>navigate кладёт новый экран сверху и запоминает его. goBack убирает верхний экран и показывает тот, что под ним. Поведение — точь-в-точь как у стопки бумаг.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11535" y="638251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9A"/>
                </a:solidFill>
                <a:latin typeface="Segoe U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750A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920240"/>
            <a:ext cx="11057839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D9CFF2"/>
                </a:solidFill>
                <a:latin typeface="Segoe UI"/>
              </a:rPr>
              <a:t>ШАГ 5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Segoe UI"/>
              </a:rPr>
              <a:t>Передаём параметры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3401568"/>
            <a:ext cx="173736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657600"/>
            <a:ext cx="1105783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E8E2F7"/>
                </a:solidFill>
                <a:latin typeface="Segoe UI"/>
              </a:rPr>
              <a:t>01:08 — 01:24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43400"/>
            <a:ext cx="105156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DED6F2"/>
                </a:solidFill>
                <a:latin typeface="Segoe UI"/>
              </a:rPr>
              <a:t>•  navigate('Pickup', { flavor }) — второй аргумент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700" b="0" i="0">
                <a:solidFill>
                  <a:srgbClr val="DED6F2"/>
                </a:solidFill>
                <a:latin typeface="Segoe UI"/>
              </a:rPr>
              <a:t>•  route.params — что пришло на этот экран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700" b="0" i="0">
                <a:solidFill>
                  <a:srgbClr val="DED6F2"/>
                </a:solidFill>
                <a:latin typeface="Segoe UI"/>
              </a:rPr>
              <a:t>•  Данные копятся: начинка + дата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38251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9A"/>
                </a:solidFill>
                <a:latin typeface="Segoe U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1105783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Segoe UI"/>
              </a:rPr>
              <a:t>Шаг 5. Отправляем выбор дальше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15568"/>
            <a:ext cx="1371600" cy="50292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code-02-flav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00200"/>
            <a:ext cx="5456966" cy="4709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79" y="1600200"/>
            <a:ext cx="411480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79" y="1600200"/>
            <a:ext cx="411480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• У navigate есть необязательный второй аргумент — объект параметров</a:t>
            </a:r>
          </a:p>
          <a:p>
            <a:pPr algn="l">
              <a:spcBef>
                <a:spcPts val="140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• navigation.navigate('Имя', { поле })</a:t>
            </a:r>
          </a:p>
          <a:p>
            <a:pPr algn="l">
              <a:spcBef>
                <a:spcPts val="140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• Всё, что в фигурных скобках, станет доступно на следующем экране</a:t>
            </a:r>
          </a:p>
          <a:p>
            <a:pPr algn="l">
              <a:spcBef>
                <a:spcPts val="140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• { flavor } — сокращение для { flavor: flavor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38251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9A"/>
                </a:solidFill>
                <a:latin typeface="Segoe UI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1105783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Segoe UI"/>
              </a:rPr>
              <a:t>Шаг 5. Читаем параметры на экране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15568"/>
            <a:ext cx="1371600" cy="50292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code-03-par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00200"/>
            <a:ext cx="6187217" cy="4709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79" y="1600200"/>
            <a:ext cx="411480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79" y="1600200"/>
            <a:ext cx="411480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• Экрану нужны два пропса</a:t>
            </a:r>
          </a:p>
          <a:p>
            <a:pPr lvl="1" algn="l">
              <a:spcBef>
                <a:spcPts val="1200"/>
              </a:spcBef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Segoe UI"/>
              </a:rPr>
              <a:t>navigation — куда переходить</a:t>
            </a:r>
          </a:p>
          <a:p>
            <a:pPr lvl="1" algn="l">
              <a:spcBef>
                <a:spcPts val="1200"/>
              </a:spcBef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Segoe UI"/>
              </a:rPr>
              <a:t>route — что передали</a:t>
            </a:r>
          </a:p>
          <a:p>
            <a:pPr algn="l">
              <a:spcBef>
                <a:spcPts val="120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• const { flavor } = route.params</a:t>
            </a:r>
          </a:p>
          <a:p>
            <a:pPr algn="l">
              <a:spcBef>
                <a:spcPts val="120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• Передаём дальше обе величины: { flavor, date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38251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9A"/>
                </a:solidFill>
                <a:latin typeface="Segoe UI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1105783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Segoe UI"/>
              </a:rPr>
              <a:t>Шаг 5. Собираем заказ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15568"/>
            <a:ext cx="1371600" cy="50292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code-04-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737360"/>
            <a:ext cx="6766560" cy="322038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79" y="1737360"/>
            <a:ext cx="411480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79" y="1737360"/>
            <a:ext cx="411480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• const { flavor, date } = route.params</a:t>
            </a:r>
          </a:p>
          <a:p>
            <a:pPr algn="l">
              <a:spcBef>
                <a:spcPts val="140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• Значения подставляются в карточку заказа</a:t>
            </a:r>
          </a:p>
          <a:p>
            <a:pPr algn="l">
              <a:spcBef>
                <a:spcPts val="140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• Заказ нигде не хранится глобально — он пронёсся через параметры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4892040"/>
            <a:ext cx="11057839" cy="566928"/>
          </a:xfrm>
          <a:prstGeom prst="roundRect">
            <a:avLst/>
          </a:prstGeom>
          <a:solidFill>
            <a:srgbClr val="F3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" y="5020056"/>
            <a:ext cx="10655503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750A4"/>
                </a:solidFill>
                <a:latin typeface="Segoe UI"/>
              </a:rPr>
              <a:t>Осторожно: параметры копируются. Если вернуться назад и сменить вкус, на экране даты останется прежнее значение.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38251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9A"/>
                </a:solidFill>
                <a:latin typeface="Segoe UI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750A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920240"/>
            <a:ext cx="11057839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D9CFF2"/>
                </a:solidFill>
                <a:latin typeface="Segoe UI"/>
              </a:rPr>
              <a:t>ШАГ 6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Segoe UI"/>
              </a:rPr>
              <a:t>Возврат назад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3401568"/>
            <a:ext cx="173736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657600"/>
            <a:ext cx="1105783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E8E2F7"/>
                </a:solidFill>
                <a:latin typeface="Segoe UI"/>
              </a:rPr>
              <a:t>01:24 — 01:30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43400"/>
            <a:ext cx="105156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DED6F2"/>
                </a:solidFill>
                <a:latin typeface="Segoe UI"/>
              </a:rPr>
              <a:t>•  goBack() — на один экран назад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700" b="0" i="0">
                <a:solidFill>
                  <a:srgbClr val="DED6F2"/>
                </a:solidFill>
                <a:latin typeface="Segoe UI"/>
              </a:rPr>
              <a:t>•  popToTop() — сразу в начало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700" b="0" i="0">
                <a:solidFill>
                  <a:srgbClr val="DED6F2"/>
                </a:solidFill>
                <a:latin typeface="Segoe UI"/>
              </a:rPr>
              <a:t>•  headerBackVisible: false — убираем стрелку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38251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9A"/>
                </a:solidFill>
                <a:latin typeface="Segoe UI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1105783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Segoe UI"/>
              </a:rPr>
              <a:t>Шаг 6. Назад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15568"/>
            <a:ext cx="1371600" cy="50292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1783080"/>
            <a:ext cx="539496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A1A1A"/>
                </a:solidFill>
                <a:latin typeface="Segoe UI"/>
              </a:rPr>
              <a:t>• Кнопка «Назад» в шапке появляется автоматически</a:t>
            </a:r>
          </a:p>
          <a:p>
            <a:pPr algn="l">
              <a:spcBef>
                <a:spcPts val="1400"/>
              </a:spcBef>
              <a:spcAft>
                <a:spcPts val="0"/>
              </a:spcAft>
            </a:pPr>
            <a:r>
              <a:rPr sz="1700" b="0" i="0">
                <a:solidFill>
                  <a:srgbClr val="1A1A1A"/>
                </a:solidFill>
                <a:latin typeface="Segoe UI"/>
              </a:rPr>
              <a:t>• Она вызывает goBack()</a:t>
            </a:r>
          </a:p>
          <a:p>
            <a:pPr algn="l">
              <a:spcBef>
                <a:spcPts val="1400"/>
              </a:spcBef>
              <a:spcAft>
                <a:spcPts val="0"/>
              </a:spcAft>
            </a:pPr>
            <a:r>
              <a:rPr sz="1700" b="0" i="0">
                <a:solidFill>
                  <a:srgbClr val="1A1A1A"/>
                </a:solidFill>
                <a:latin typeface="Segoe UI"/>
              </a:rPr>
              <a:t>• Программно — navigation.goBack()</a:t>
            </a:r>
          </a:p>
          <a:p>
            <a:pPr algn="l">
              <a:spcBef>
                <a:spcPts val="1400"/>
              </a:spcBef>
              <a:spcAft>
                <a:spcPts val="0"/>
              </a:spcAft>
            </a:pPr>
            <a:r>
              <a:rPr sz="1700" b="0" i="0">
                <a:solidFill>
                  <a:srgbClr val="1A1A1A"/>
                </a:solidFill>
                <a:latin typeface="Segoe UI"/>
              </a:rPr>
              <a:t>• Кнопка «Изменить дату» на экране итога</a:t>
            </a:r>
          </a:p>
          <a:p>
            <a:pPr algn="l">
              <a:spcBef>
                <a:spcPts val="1400"/>
              </a:spcBef>
              <a:spcAft>
                <a:spcPts val="0"/>
              </a:spcAft>
            </a:pPr>
            <a:r>
              <a:rPr sz="1700" b="0" i="0">
                <a:solidFill>
                  <a:srgbClr val="1A1A1A"/>
                </a:solidFill>
                <a:latin typeface="Segoe UI"/>
              </a:rPr>
              <a:t>• canGoBack() проверит, есть ли куда возвращаться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783080"/>
            <a:ext cx="5303520" cy="2388694"/>
          </a:xfrm>
          <a:prstGeom prst="round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309360" y="1783080"/>
            <a:ext cx="5303520" cy="310896"/>
          </a:xfrm>
          <a:prstGeom prst="rect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10528" y="1837944"/>
            <a:ext cx="493776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4B4B4"/>
                </a:solidFill>
                <a:latin typeface="Segoe UI"/>
              </a:rPr>
              <a:t>SummaryScreen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55664" y="2181758"/>
            <a:ext cx="5010912" cy="20777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&lt;Pressable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style={[styles.button,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  styles.buttonSecondary]}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onPress={() =&gt; navigation.goBack()}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&gt;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&lt;Text style={styles.buttonText}&gt;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  Изменить дату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  &lt;/Text&gt;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 i="0">
                <a:solidFill>
                  <a:srgbClr val="D4D4D4"/>
                </a:solidFill>
                <a:latin typeface="Consolas"/>
              </a:rPr>
              <a:t>&lt;/Pressable&gt;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5897880"/>
            <a:ext cx="11057839" cy="566928"/>
          </a:xfrm>
          <a:prstGeom prst="roundRect">
            <a:avLst/>
          </a:prstGeom>
          <a:solidFill>
            <a:srgbClr val="F3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" y="6025896"/>
            <a:ext cx="10655503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750A4"/>
                </a:solidFill>
                <a:latin typeface="Segoe UI"/>
              </a:rPr>
              <a:t>goBack() на первом экране ничего не делает и печатает предупреждение: стек пуст, идти больше некуда.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11535" y="638251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9A"/>
                </a:solidFill>
                <a:latin typeface="Segoe UI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1105783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Segoe UI"/>
              </a:rPr>
              <a:t>Шаг 6. popToTop и headerBackVisible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15568"/>
            <a:ext cx="1371600" cy="50292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code-05-rou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00200"/>
            <a:ext cx="6537960" cy="444339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79" y="1600200"/>
            <a:ext cx="411480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79" y="1600200"/>
            <a:ext cx="411480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• Кнопка «Новый заказ» возвращает в самое начало, минуя два экрана</a:t>
            </a:r>
          </a:p>
          <a:p>
            <a:pPr algn="l">
              <a:spcBef>
                <a:spcPts val="140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• popToTop() убирает всё до первого экрана</a:t>
            </a:r>
          </a:p>
          <a:p>
            <a:pPr algn="l">
              <a:spcBef>
                <a:spcPts val="140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• headerBackVisible: false убирает стрелку «Назад»</a:t>
            </a:r>
          </a:p>
          <a:p>
            <a:pPr algn="l">
              <a:spcBef>
                <a:spcPts val="140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• headerShown: false убирает шапку целиком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38251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9A"/>
                </a:solidFill>
                <a:latin typeface="Segoe UI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1105783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Segoe UI"/>
              </a:rPr>
              <a:t>Шпаргалка по методам навигации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15568"/>
            <a:ext cx="1371600" cy="50292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66928" y="1737360"/>
            <a:ext cx="11057839" cy="548640"/>
          </a:xfrm>
          <a:prstGeom prst="rect">
            <a:avLst/>
          </a:prstGeom>
          <a:solidFill>
            <a:srgbClr val="F3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95528" y="1883664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750A4"/>
                </a:solidFill>
                <a:latin typeface="Consolas"/>
              </a:rPr>
              <a:t>navigate('Flavor')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21808" y="1892808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Segoe UI"/>
              </a:rPr>
              <a:t>Открывает экран поверх текущего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286000"/>
            <a:ext cx="11057839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" y="2432304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750A4"/>
                </a:solidFill>
                <a:latin typeface="Consolas"/>
              </a:rPr>
              <a:t>navigate('Pickup', {...})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21808" y="2441448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Segoe UI"/>
              </a:rPr>
              <a:t>То же, но передаёт параметры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834640"/>
            <a:ext cx="11057839" cy="548640"/>
          </a:xfrm>
          <a:prstGeom prst="rect">
            <a:avLst/>
          </a:prstGeom>
          <a:solidFill>
            <a:srgbClr val="F3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8" y="2980944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750A4"/>
                </a:solidFill>
                <a:latin typeface="Consolas"/>
              </a:rPr>
              <a:t>navigate('Start')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21808" y="2990088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Segoe UI"/>
              </a:rPr>
              <a:t>Если Start уже в стеке — возврат к нему, без дубликата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3383280"/>
            <a:ext cx="11057839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5528" y="3529584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750A4"/>
                </a:solidFill>
                <a:latin typeface="Consolas"/>
              </a:rPr>
              <a:t>goBack()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21808" y="3538728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Segoe UI"/>
              </a:rPr>
              <a:t>Убирает текущий экран, показывает предыдущий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3931920"/>
            <a:ext cx="11057839" cy="548640"/>
          </a:xfrm>
          <a:prstGeom prst="rect">
            <a:avLst/>
          </a:prstGeom>
          <a:solidFill>
            <a:srgbClr val="F3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5528" y="4078224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750A4"/>
                </a:solidFill>
                <a:latin typeface="Consolas"/>
              </a:rPr>
              <a:t>popToTop()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21808" y="4087368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Segoe UI"/>
              </a:rPr>
              <a:t>Убирает все экраны до первого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4480560"/>
            <a:ext cx="11057839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5528" y="4626864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750A4"/>
                </a:solidFill>
                <a:latin typeface="Consolas"/>
              </a:rPr>
              <a:t>reset(...)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21808" y="4636008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Segoe UI"/>
              </a:rPr>
              <a:t>Полностью пересобирает стек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5029200"/>
            <a:ext cx="11057839" cy="548640"/>
          </a:xfrm>
          <a:prstGeom prst="rect">
            <a:avLst/>
          </a:prstGeom>
          <a:solidFill>
            <a:srgbClr val="F3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95528" y="5175504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750A4"/>
                </a:solidFill>
                <a:latin typeface="Consolas"/>
              </a:rPr>
              <a:t>canGoBack()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21808" y="5184648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Segoe UI"/>
              </a:rPr>
              <a:t>true, если есть куда возвращаться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5715000"/>
            <a:ext cx="11057839" cy="507492"/>
          </a:xfrm>
          <a:prstGeom prst="round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13232" y="5802782"/>
            <a:ext cx="10765231" cy="5074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4D4D4"/>
                </a:solidFill>
                <a:latin typeface="Consolas"/>
              </a:rPr>
              <a:t>navigation.reset({ index: 0, routes: [{ name: 'Home' }] });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11535" y="638251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9A"/>
                </a:solidFill>
                <a:latin typeface="Segoe UI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750A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920240"/>
            <a:ext cx="11057839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D9CFF2"/>
                </a:solidFill>
                <a:latin typeface="Segoe UI"/>
              </a:rPr>
              <a:t>ШАГ *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Segoe UI"/>
              </a:rPr>
              <a:t>Итоги и домашнее задание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3401568"/>
            <a:ext cx="173736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3657600"/>
            <a:ext cx="1105783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E8E2F7"/>
                </a:solidFill>
                <a:latin typeface="Segoe UI"/>
              </a:rPr>
              <a:t>01:24 — 01:30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43400"/>
            <a:ext cx="105156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DED6F2"/>
                </a:solidFill>
                <a:latin typeface="Segoe UI"/>
              </a:rPr>
              <a:t>•  Краткий разбор ключевых идей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700" b="0" i="0">
                <a:solidFill>
                  <a:srgbClr val="DED6F2"/>
                </a:solidFill>
                <a:latin typeface="Segoe UI"/>
              </a:rPr>
              <a:t>•  Что чаще всего ломается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700" b="0" i="0">
                <a:solidFill>
                  <a:srgbClr val="DED6F2"/>
                </a:solidFill>
                <a:latin typeface="Segoe UI"/>
              </a:rPr>
              <a:t>•  Четыре задачи на дом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38251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9A"/>
                </a:solidFill>
                <a:latin typeface="Segoe UI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1105783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Segoe UI"/>
              </a:rPr>
              <a:t>Что чаще всего ломается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15568"/>
            <a:ext cx="1371600" cy="50292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66928" y="1737360"/>
            <a:ext cx="11057839" cy="777240"/>
          </a:xfrm>
          <a:prstGeom prst="rect">
            <a:avLst/>
          </a:prstGeom>
          <a:solidFill>
            <a:srgbClr val="F3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95528" y="1920240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1A1A"/>
                </a:solidFill>
                <a:latin typeface="Segoe UI"/>
              </a:rPr>
              <a:t>navigation.navigate не работает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38928" y="1938528"/>
            <a:ext cx="65836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Segoe UI"/>
              </a:rPr>
              <a:t>Экран не зарегистрирован · компонент не получил navigation · забыт NavigationContainer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514600"/>
            <a:ext cx="11057839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" y="2697480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1A1A"/>
                </a:solidFill>
                <a:latin typeface="Segoe UI"/>
              </a:rPr>
              <a:t>route.params — undefined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38928" y="2715768"/>
            <a:ext cx="65836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Segoe UI"/>
              </a:rPr>
              <a:t>Экран открылся без параметров. Защита: route.params ?? {}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291840"/>
            <a:ext cx="11057839" cy="777240"/>
          </a:xfrm>
          <a:prstGeom prst="rect">
            <a:avLst/>
          </a:prstGeom>
          <a:solidFill>
            <a:srgbClr val="F3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8" y="3474720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1A1A"/>
                </a:solidFill>
                <a:latin typeface="Segoe UI"/>
              </a:rPr>
              <a:t>Native module 'RNSScreen' not found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38928" y="3493008"/>
            <a:ext cx="65836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Segoe UI"/>
              </a:rPr>
              <a:t>Не установлены нативные пакеты. npx expo install … и npx expo start --clear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4069080"/>
            <a:ext cx="11057839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5528" y="4251960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1A1A"/>
                </a:solidFill>
                <a:latin typeface="Segoe UI"/>
              </a:rPr>
              <a:t>Навигатор создан внутри компонента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38928" y="4270248"/>
            <a:ext cx="65836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Segoe UI"/>
              </a:rPr>
              <a:t>Стек сбрасывается при каждом рендере. Выносите наружу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4846320"/>
            <a:ext cx="11057839" cy="777240"/>
          </a:xfrm>
          <a:prstGeom prst="rect">
            <a:avLst/>
          </a:prstGeom>
          <a:solidFill>
            <a:srgbClr val="F3E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5528" y="5029200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1A1A"/>
                </a:solidFill>
                <a:latin typeface="Segoe UI"/>
              </a:rPr>
              <a:t>Кнопка «Назад» на первом экране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38928" y="5047488"/>
            <a:ext cx="65836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Segoe UI"/>
              </a:rPr>
              <a:t>initialRouteName не совпадает с тем экраном, который вы считаете первым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11535" y="638251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9A"/>
                </a:solidFill>
                <a:latin typeface="Segoe UI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1105783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Segoe UI"/>
              </a:rPr>
              <a:t>Итог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15568"/>
            <a:ext cx="1371600" cy="50292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1737360"/>
            <a:ext cx="54864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• Навигация — это дерево компонентов, а не набор if-ов</a:t>
            </a:r>
          </a:p>
          <a:p>
            <a:pPr algn="l">
              <a:spcBef>
                <a:spcPts val="140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• NavigationContainer хранит текущий экран и историю</a:t>
            </a:r>
          </a:p>
          <a:p>
            <a:pPr algn="l">
              <a:spcBef>
                <a:spcPts val="140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• Stack.Navigator и Stack.Screen описывают экраны</a:t>
            </a:r>
          </a:p>
          <a:p>
            <a:pPr algn="l">
              <a:spcBef>
                <a:spcPts val="140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• navigate('Имя', { ... }) передаёт данные, route.params читает их</a:t>
            </a:r>
          </a:p>
          <a:p>
            <a:pPr algn="l">
              <a:spcBef>
                <a:spcPts val="140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• goBack() — назад на один, popToTop() — сразу в начало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737360"/>
            <a:ext cx="530352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• name в navigate и name в Stack.Screen должны совпадать до буквы</a:t>
            </a:r>
          </a:p>
          <a:p>
            <a:pPr algn="l">
              <a:spcBef>
                <a:spcPts val="140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• Параметры копируются, а не разделяются</a:t>
            </a:r>
          </a:p>
          <a:p>
            <a:pPr algn="l">
              <a:spcBef>
                <a:spcPts val="140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• options настраивает заголовок: title, headerBackVisible, headerShown</a:t>
            </a:r>
          </a:p>
          <a:p>
            <a:pPr algn="l">
              <a:spcBef>
                <a:spcPts val="140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• createNativeStackNavigator() — один раз вне компонента</a:t>
            </a:r>
          </a:p>
          <a:p>
            <a:pPr algn="l">
              <a:spcBef>
                <a:spcPts val="1400"/>
              </a:spcBef>
              <a:spcAft>
                <a:spcPts val="0"/>
              </a:spcAft>
            </a:pPr>
            <a:r>
              <a:rPr sz="1600" b="0" i="0">
                <a:solidFill>
                  <a:srgbClr val="1A1A1A"/>
                </a:solidFill>
                <a:latin typeface="Segoe UI"/>
              </a:rPr>
              <a:t>• Сначала логика переходов, потом структура проекта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38251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9A"/>
                </a:solidFill>
                <a:latin typeface="Segoe UI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84048"/>
            <a:ext cx="11057839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1A1A"/>
                </a:solidFill>
                <a:latin typeface="Segoe UI"/>
              </a:rPr>
              <a:t>Домашнее задание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15568"/>
            <a:ext cx="1371600" cy="50292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66928" y="1783080"/>
            <a:ext cx="475488" cy="475488"/>
          </a:xfrm>
          <a:prstGeom prst="ellipse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874520"/>
            <a:ext cx="47548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1801368"/>
            <a:ext cx="10332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A1A1A"/>
                </a:solidFill>
                <a:latin typeface="Segoe UI"/>
              </a:rPr>
              <a:t>Пятый экран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Segoe UI"/>
              </a:rPr>
              <a:t>Между «Дата» и «Итог» вставьте экран Address — ввод адреса. Сделайте обязательным: «Далее» неактивна, пока адрес не введён.</a:t>
            </a:r>
          </a:p>
        </p:txBody>
      </p:sp>
      <p:sp>
        <p:nvSpPr>
          <p:cNvPr id="7" name="Oval 6"/>
          <p:cNvSpPr/>
          <p:nvPr/>
        </p:nvSpPr>
        <p:spPr>
          <a:xfrm>
            <a:off x="566928" y="2807208"/>
            <a:ext cx="475488" cy="475488"/>
          </a:xfrm>
          <a:prstGeom prst="ellipse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2898648"/>
            <a:ext cx="47548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2825496"/>
            <a:ext cx="10332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A1A1A"/>
                </a:solidFill>
                <a:latin typeface="Segoe UI"/>
              </a:rPr>
              <a:t>Разберитесь с reset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Segoe UI"/>
              </a:rPr>
              <a:t>Замените popToTop() на navigation.reset({ index: 0, routes: [{ name: 'Start' }] }). Сравните, что изменилось в стеке.</a:t>
            </a:r>
          </a:p>
        </p:txBody>
      </p:sp>
      <p:sp>
        <p:nvSpPr>
          <p:cNvPr id="10" name="Oval 9"/>
          <p:cNvSpPr/>
          <p:nvPr/>
        </p:nvSpPr>
        <p:spPr>
          <a:xfrm>
            <a:off x="566928" y="3831336"/>
            <a:ext cx="475488" cy="475488"/>
          </a:xfrm>
          <a:prstGeom prst="ellipse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" y="3922776"/>
            <a:ext cx="47548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3849624"/>
            <a:ext cx="10332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A1A1A"/>
                </a:solidFill>
                <a:latin typeface="Segoe UI"/>
              </a:rPr>
              <a:t>Настройте заголовки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Segoe UI"/>
              </a:rPr>
              <a:t>Для Pickup задайте options={{ title: 'Когда забрать', headerStyle: { backgroundColor: '#F3EFFC' } }}.</a:t>
            </a:r>
          </a:p>
        </p:txBody>
      </p:sp>
      <p:sp>
        <p:nvSpPr>
          <p:cNvPr id="13" name="Oval 12"/>
          <p:cNvSpPr/>
          <p:nvPr/>
        </p:nvSpPr>
        <p:spPr>
          <a:xfrm>
            <a:off x="566928" y="4855464"/>
            <a:ext cx="475488" cy="475488"/>
          </a:xfrm>
          <a:prstGeom prst="ellipse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6928" y="4946904"/>
            <a:ext cx="47548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4873752"/>
            <a:ext cx="103327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A1A1A"/>
                </a:solidFill>
                <a:latin typeface="Segoe UI"/>
              </a:rPr>
              <a:t>Защитите route.params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400" b="0" i="0">
                <a:solidFill>
                  <a:srgbClr val="6B6B6B"/>
                </a:solidFill>
                <a:latin typeface="Segoe UI"/>
              </a:rPr>
              <a:t>Откройте Summary прямо со стартового экрана. Убедитесь, что приложение не падает: route.params ?? {} и значения по умолчанию.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11535" y="638251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9A9A"/>
                </a:solidFill>
                <a:latin typeface="Segoe UI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05840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FFFFFF"/>
                </a:solidFill>
                <a:latin typeface="Segoe UI"/>
              </a:rPr>
              <a:t>Спасибо за работу!</a:t>
            </a:r>
          </a:p>
          <a:p>
            <a:pPr algn="l">
              <a:spcBef>
                <a:spcPts val="1400"/>
              </a:spcBef>
              <a:spcAft>
                <a:spcPts val="0"/>
              </a:spcAft>
            </a:pPr>
            <a:r>
              <a:rPr sz="2200" b="0" i="0">
                <a:solidFill>
                  <a:srgbClr val="C9BEE8"/>
                </a:solidFill>
                <a:latin typeface="Segoe UI"/>
              </a:rPr>
              <a:t>Навигация — это уже почти всё, что нужно приложению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114800"/>
            <a:ext cx="1828800" cy="54864"/>
          </a:xfrm>
          <a:prstGeom prst="rect">
            <a:avLst/>
          </a:prstGeom>
          <a:solidFill>
            <a:srgbClr val="675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4434840"/>
            <a:ext cx="100584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A8A8A8"/>
                </a:solidFill>
                <a:latin typeface="Segoe UI"/>
              </a:rPr>
              <a:t>Следующая лекция — вкладки и работа с состоянием навигации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700" b="0" i="0">
                <a:solidFill>
                  <a:srgbClr val="A8A8A8"/>
                </a:solidFill>
                <a:latin typeface="Segoe UI"/>
              </a:rPr>
              <a:t>Практическая работа 12 «Практика навигации (Lunch Tray)» — постройте приложение на 5 экранов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3487</Words>
  <Application>Microsoft Office PowerPoint</Application>
  <PresentationFormat>Широкоэкранный</PresentationFormat>
  <Paragraphs>577</Paragraphs>
  <Slides>45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45</vt:i4>
      </vt:variant>
    </vt:vector>
  </HeadingPairs>
  <TitlesOfParts>
    <vt:vector size="50" baseType="lpstr">
      <vt:lpstr>Arial</vt:lpstr>
      <vt:lpstr>Calibri</vt:lpstr>
      <vt:lpstr>Consolas</vt:lpstr>
      <vt:lpstr>Segoe UI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artik3314@gmail.com</cp:lastModifiedBy>
  <cp:revision>2</cp:revision>
  <dcterms:created xsi:type="dcterms:W3CDTF">2013-01-27T09:14:16Z</dcterms:created>
  <dcterms:modified xsi:type="dcterms:W3CDTF">2026-10-15T06:18:29Z</dcterms:modified>
  <cp:category/>
</cp:coreProperties>
</file>